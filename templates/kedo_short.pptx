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7559675" cy="10439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77640" y="2442600"/>
            <a:ext cx="6803280" cy="60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FD7CB64-5425-410D-AB9C-66613D6688F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504D3B-DDAD-481B-AA1A-83AD5CA7C0D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FDCCF3-77BD-4E5E-8F17-66827096E72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112453F-984C-4A4B-B1E7-79C1A0380E7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377640" y="2442600"/>
            <a:ext cx="6803280" cy="60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12330A-A925-419F-8FEC-480AA939D1EF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77640" y="2442600"/>
            <a:ext cx="3319920" cy="60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3863880" y="2442600"/>
            <a:ext cx="3319920" cy="60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405437-246B-4974-9AC3-E32698D8686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B4291C4-05B1-4DC8-A0DE-9F000B0F0D7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E9CCC38-C9F8-4EA5-8051-0873D824D7EE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98500DD-322D-4026-B958-4EEF3D50A690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AB54ED4-E206-4D09-8C3B-836FF685A8C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0ADEF68-A2E9-4FC5-9287-6BFF10ECAD8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864C23-6C13-43AA-8CCC-FCF5EA4405A2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77640" y="2442600"/>
            <a:ext cx="6803280" cy="605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125604-C8CE-490E-98BC-20FC8D711F79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D54441-D9A9-447B-80E9-CEB2B90903E5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BC55D0-6A18-4B07-9C8B-ADD7B4DFE011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78000" y="2442960"/>
            <a:ext cx="6803280" cy="605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F554F7-2FC3-492A-966F-1470FB61469C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78000" y="2442960"/>
            <a:ext cx="3319560" cy="605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3864240" y="2442960"/>
            <a:ext cx="3319560" cy="605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719288-639D-44CF-8FA1-B837E79B6FC4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57760" y="1511280"/>
            <a:ext cx="7043760" cy="41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22F5EE-1ABD-4723-B1D2-0591F3CD2B72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2F943F-6822-43B4-A256-B853859E75F3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B26A3D-1302-4051-8BC6-DDC359C4DB14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3780000" y="-360"/>
            <a:ext cx="3779280" cy="10439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72C48E-F355-4CA7-ADCF-6781275C8A5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7004880" y="9465120"/>
            <a:ext cx="452880" cy="7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923D92-6EEA-4423-9C2C-EC971B50AD0A}" type="slidenum">
              <a:rPr b="0" lang="ru" sz="1000" spc="-1" strike="noStrike">
                <a:solidFill>
                  <a:schemeClr val="dk2"/>
                </a:solidFill>
                <a:latin typeface="Arial"/>
                <a:ea typeface="Arial"/>
              </a:rPr>
              <a:t>&lt;номер&gt;</a:t>
            </a:fld>
            <a:endParaRPr b="0" lang="ru-RU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54;p13"/>
          <p:cNvSpPr/>
          <p:nvPr/>
        </p:nvSpPr>
        <p:spPr>
          <a:xfrm>
            <a:off x="360000" y="329760"/>
            <a:ext cx="6839280" cy="24926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Коммерческое предложение 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ru" sz="26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HRlink для компании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Название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55;p13"/>
          <p:cNvSpPr/>
          <p:nvPr/>
        </p:nvSpPr>
        <p:spPr>
          <a:xfrm>
            <a:off x="284760" y="3332520"/>
            <a:ext cx="683928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12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— это платформа №1</a:t>
            </a:r>
            <a:r>
              <a:rPr b="0" lang="ru" sz="12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 для автоматизации кадрового документооборота  по версии РБК в 2025 году. Мы помогаем подписывать кадровые документы онлайн за 1 минуту.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56;p13"/>
          <p:cNvSpPr/>
          <p:nvPr/>
        </p:nvSpPr>
        <p:spPr>
          <a:xfrm>
            <a:off x="264600" y="4442400"/>
            <a:ext cx="67410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КЭДО HRlink дает вам очевидные преимущества: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Google Shape;57;p13" descr=""/>
          <p:cNvPicPr/>
          <p:nvPr/>
        </p:nvPicPr>
        <p:blipFill>
          <a:blip r:embed="rId1"/>
          <a:stretch/>
        </p:blipFill>
        <p:spPr>
          <a:xfrm>
            <a:off x="360000" y="5018040"/>
            <a:ext cx="613080" cy="613080"/>
          </a:xfrm>
          <a:prstGeom prst="rect">
            <a:avLst/>
          </a:prstGeom>
          <a:ln w="0">
            <a:noFill/>
          </a:ln>
        </p:spPr>
      </p:pic>
      <p:pic>
        <p:nvPicPr>
          <p:cNvPr id="32" name="Google Shape;58;p13" descr=""/>
          <p:cNvPicPr/>
          <p:nvPr/>
        </p:nvPicPr>
        <p:blipFill>
          <a:blip r:embed="rId2"/>
          <a:stretch/>
        </p:blipFill>
        <p:spPr>
          <a:xfrm>
            <a:off x="360000" y="5796720"/>
            <a:ext cx="613080" cy="613080"/>
          </a:xfrm>
          <a:prstGeom prst="rect">
            <a:avLst/>
          </a:prstGeom>
          <a:ln w="0">
            <a:noFill/>
          </a:ln>
        </p:spPr>
      </p:pic>
      <p:pic>
        <p:nvPicPr>
          <p:cNvPr id="33" name="Google Shape;59;p13" descr=""/>
          <p:cNvPicPr/>
          <p:nvPr/>
        </p:nvPicPr>
        <p:blipFill>
          <a:blip r:embed="rId3"/>
          <a:stretch/>
        </p:blipFill>
        <p:spPr>
          <a:xfrm>
            <a:off x="3825000" y="5018040"/>
            <a:ext cx="613080" cy="613080"/>
          </a:xfrm>
          <a:prstGeom prst="rect">
            <a:avLst/>
          </a:prstGeom>
          <a:ln w="0">
            <a:noFill/>
          </a:ln>
        </p:spPr>
      </p:pic>
      <p:pic>
        <p:nvPicPr>
          <p:cNvPr id="34" name="Google Shape;60;p13" descr=""/>
          <p:cNvPicPr/>
          <p:nvPr/>
        </p:nvPicPr>
        <p:blipFill>
          <a:blip r:embed="rId4"/>
          <a:stretch/>
        </p:blipFill>
        <p:spPr>
          <a:xfrm>
            <a:off x="3825000" y="5838120"/>
            <a:ext cx="613080" cy="613080"/>
          </a:xfrm>
          <a:prstGeom prst="rect">
            <a:avLst/>
          </a:prstGeom>
          <a:ln w="0">
            <a:noFill/>
          </a:ln>
        </p:spPr>
      </p:pic>
      <p:sp>
        <p:nvSpPr>
          <p:cNvPr id="35" name="Google Shape;61;p13"/>
          <p:cNvSpPr/>
          <p:nvPr/>
        </p:nvSpPr>
        <p:spPr>
          <a:xfrm>
            <a:off x="1111320" y="5015160"/>
            <a:ext cx="17456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подписание 75% документов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в первый день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Google Shape;62;p13"/>
          <p:cNvSpPr/>
          <p:nvPr/>
        </p:nvSpPr>
        <p:spPr>
          <a:xfrm>
            <a:off x="1111320" y="5796720"/>
            <a:ext cx="17456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риск штрафов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в связи с утерей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документов — 0%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63;p13"/>
          <p:cNvSpPr/>
          <p:nvPr/>
        </p:nvSpPr>
        <p:spPr>
          <a:xfrm>
            <a:off x="4597560" y="5017320"/>
            <a:ext cx="201636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экономия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на документообороте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2c2d2e"/>
                </a:solidFill>
                <a:latin typeface="Montserrat Medium"/>
                <a:ea typeface="Montserrat Medium"/>
              </a:rPr>
              <a:t>до 10 раз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64;p13"/>
          <p:cNvSpPr/>
          <p:nvPr/>
        </p:nvSpPr>
        <p:spPr>
          <a:xfrm>
            <a:off x="4597560" y="5796720"/>
            <a:ext cx="233388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прозрачные процессы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КДП с аналитикой 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ru" sz="1100" spc="-1" strike="noStrike">
                <a:solidFill>
                  <a:srgbClr val="141416"/>
                </a:solidFill>
                <a:latin typeface="Montserrat Medium"/>
                <a:ea typeface="Montserrat Medium"/>
              </a:rPr>
              <a:t>по документам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65;p13"/>
          <p:cNvSpPr/>
          <p:nvPr/>
        </p:nvSpPr>
        <p:spPr>
          <a:xfrm>
            <a:off x="317520" y="6846840"/>
            <a:ext cx="674100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ru" sz="1800" spc="-1" strike="noStrike">
                <a:solidFill>
                  <a:srgbClr val="2c2d2e"/>
                </a:solidFill>
                <a:latin typeface="Montserrat"/>
                <a:ea typeface="Montserrat"/>
              </a:rPr>
              <a:t>Более 5 лет создаем решения, которые формируют рынок КЭДО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Google Shape;66;p13" descr=""/>
          <p:cNvPicPr/>
          <p:nvPr/>
        </p:nvPicPr>
        <p:blipFill>
          <a:blip r:embed="rId5"/>
          <a:stretch/>
        </p:blipFill>
        <p:spPr>
          <a:xfrm>
            <a:off x="360000" y="7640640"/>
            <a:ext cx="6796800" cy="1629000"/>
          </a:xfrm>
          <a:prstGeom prst="rect">
            <a:avLst/>
          </a:prstGeom>
          <a:ln w="0">
            <a:noFill/>
          </a:ln>
        </p:spPr>
      </p:pic>
      <p:pic>
        <p:nvPicPr>
          <p:cNvPr id="41" name="Google Shape;67;p13" descr=""/>
          <p:cNvPicPr/>
          <p:nvPr/>
        </p:nvPicPr>
        <p:blipFill>
          <a:blip r:embed="rId6"/>
          <a:stretch/>
        </p:blipFill>
        <p:spPr>
          <a:xfrm rot="886200">
            <a:off x="5356800" y="911880"/>
            <a:ext cx="2313720" cy="231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72;p14"/>
          <p:cNvSpPr/>
          <p:nvPr/>
        </p:nvSpPr>
        <p:spPr>
          <a:xfrm>
            <a:off x="360000" y="329760"/>
            <a:ext cx="6839280" cy="13521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ru" sz="2600" spc="-1" strike="noStrike">
                <a:solidFill>
                  <a:srgbClr val="ffffff"/>
                </a:solidFill>
                <a:latin typeface="Montserrat"/>
                <a:ea typeface="Montserrat"/>
              </a:rPr>
              <a:t>В сервисе уже есть</a:t>
            </a:r>
            <a:endParaRPr b="0" lang="ru-RU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3" name="Google Shape;73;p14"/>
          <p:cNvGraphicFramePr/>
          <p:nvPr/>
        </p:nvGraphicFramePr>
        <p:xfrm>
          <a:off x="203040" y="1963080"/>
          <a:ext cx="6905520" cy="421488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облачное размещение и хранение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наших серверах или on-premise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на ваших собственных серверах;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бесшовная загрузка документов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данных о сотрудниках;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мобильное приложение,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веб- и мобильная версии;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виды электронных подписей;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модули: графика отпусков, ЛНА, выпуска МЧД, отправки расчетных листков;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массовая отправка документов;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конструктор гибких маршрутов подписания документов </a:t>
                      </a:r>
                      <a:br>
                        <a:rPr sz="1100"/>
                      </a:b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заявлений (безлимит);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массовое подписание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доступ к корпоративным сервисам компании через SSO — единое окно входа;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бесплатные уведомления (email, Telegram, push-уведомления);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работа со всеми типами персонала: сотрудники в штате, по договору ГПХ, самозанятые, ИП;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аналитика по документам;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все категории совместителей;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00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удобный электронный архив.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Google Shape;74;p14"/>
          <p:cNvSpPr/>
          <p:nvPr/>
        </p:nvSpPr>
        <p:spPr>
          <a:xfrm>
            <a:off x="360000" y="7185600"/>
            <a:ext cx="6839280" cy="24843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75;p14"/>
          <p:cNvSpPr/>
          <p:nvPr/>
        </p:nvSpPr>
        <p:spPr>
          <a:xfrm>
            <a:off x="736920" y="7995960"/>
            <a:ext cx="3348720" cy="8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Подробнее обо всех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ru" sz="2000" spc="-1" strike="noStrike">
                <a:solidFill>
                  <a:srgbClr val="ffffff"/>
                </a:solidFill>
                <a:latin typeface="Montserrat"/>
                <a:ea typeface="Montserrat"/>
              </a:rPr>
              <a:t>возможностях сервиса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" name="Google Shape;76;p14" descr=""/>
          <p:cNvPicPr/>
          <p:nvPr/>
        </p:nvPicPr>
        <p:blipFill>
          <a:blip r:embed="rId1"/>
          <a:stretch/>
        </p:blipFill>
        <p:spPr>
          <a:xfrm>
            <a:off x="4898880" y="7503480"/>
            <a:ext cx="1848600" cy="184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81;p15"/>
          <p:cNvSpPr/>
          <p:nvPr/>
        </p:nvSpPr>
        <p:spPr>
          <a:xfrm>
            <a:off x="360000" y="329760"/>
            <a:ext cx="6839280" cy="13521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Также в стоимость входит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" name="Google Shape;82;p15"/>
          <p:cNvGraphicFramePr/>
          <p:nvPr/>
        </p:nvGraphicFramePr>
        <p:xfrm>
          <a:off x="203040" y="1963080"/>
          <a:ext cx="6905520" cy="2407320"/>
        </p:xfrm>
        <a:graphic>
          <a:graphicData uri="http://schemas.openxmlformats.org/drawingml/2006/table">
            <a:tbl>
              <a:tblPr/>
              <a:tblGrid>
                <a:gridCol w="3742560"/>
                <a:gridCol w="3163320"/>
              </a:tblGrid>
              <a:tr h="72972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интеграция со всеми рабочими сервисами: «1С», «БОСС-Кадровик»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 т. д.;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внедрение системы;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консультации выделенного инженера при развертывании;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обучение всех сотрудников;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нормативная документация 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4572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для перехода;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выпуск подписи типа УНЭП, использование: ПЭП «Госуслуги», «Госключ», УКЭП;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обновления и техподдержка по SLA;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marL="457200" indent="-330120">
                        <a:lnSpc>
                          <a:spcPct val="115000"/>
                        </a:lnSpc>
                        <a:buClr>
                          <a:srgbClr val="5497e8"/>
                        </a:buClr>
                        <a:buFont typeface="Montserrat Medium"/>
                        <a:buChar char="●"/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массовая отправка документов.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Google Shape;83;p15"/>
          <p:cNvSpPr/>
          <p:nvPr/>
        </p:nvSpPr>
        <p:spPr>
          <a:xfrm>
            <a:off x="360000" y="5049360"/>
            <a:ext cx="6839280" cy="13521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Стоимость HRlink на 12 месяцев 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700" spc="-1" strike="noStrike">
                <a:solidFill>
                  <a:srgbClr val="ffffff"/>
                </a:solidFill>
                <a:latin typeface="Montserrat Medium"/>
                <a:ea typeface="Montserrat Medium"/>
              </a:rPr>
              <a:t>для вас составит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145 000 ₽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Google Shape;84;p15"/>
          <p:cNvGraphicFramePr/>
          <p:nvPr/>
        </p:nvGraphicFramePr>
        <p:xfrm>
          <a:off x="442440" y="6701400"/>
          <a:ext cx="6839640" cy="2744280"/>
        </p:xfrm>
        <a:graphic>
          <a:graphicData uri="http://schemas.openxmlformats.org/drawingml/2006/table">
            <a:tbl>
              <a:tblPr/>
              <a:tblGrid>
                <a:gridCol w="1368000"/>
                <a:gridCol w="1368000"/>
                <a:gridCol w="1368000"/>
                <a:gridCol w="1368000"/>
                <a:gridCol w="1368000"/>
              </a:tblGrid>
              <a:tr h="380880"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Тип лицензии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Стоимость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Количество лицензий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Срок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ru" sz="1100" spc="-1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</a:rPr>
                        <a:t>Сумма</a:t>
                      </a:r>
                      <a:endParaRPr b="0" lang="ru-RU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solidFill>
                      <a:srgbClr val="68a3eb"/>
                    </a:solidFill>
                  </a:tcPr>
                </a:tc>
              </a:tr>
              <a:tr h="3808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Базовая лицензия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on-premise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600 000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кадровика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2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30 000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Лицензия сотрудника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 шт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12 месяцев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100 000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  <a:tr h="380880">
                <a:tc gridSpan="4">
                  <a:txBody>
                    <a:bodyPr lIns="91080" rIns="91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Итоговая сумма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pc="-1" strike="noStrike">
                          <a:solidFill>
                            <a:srgbClr val="2c2d2e"/>
                          </a:solidFill>
                          <a:latin typeface="Montserrat Medium"/>
                          <a:ea typeface="Montserrat Medium"/>
                        </a:rPr>
                        <a:t>145 000 ₽</a:t>
                      </a:r>
                      <a:endParaRPr b="0" lang="ru-RU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080" marR="91080">
                    <a:lnL w="9360">
                      <a:solidFill>
                        <a:srgbClr val="5497e8"/>
                      </a:solidFill>
                      <a:prstDash val="solid"/>
                    </a:lnL>
                    <a:lnR w="9360">
                      <a:solidFill>
                        <a:srgbClr val="5497e8"/>
                      </a:solidFill>
                      <a:prstDash val="solid"/>
                    </a:lnR>
                    <a:lnT w="9360">
                      <a:solidFill>
                        <a:srgbClr val="5497e8"/>
                      </a:solidFill>
                      <a:prstDash val="solid"/>
                    </a:lnT>
                    <a:lnB w="9360">
                      <a:solidFill>
                        <a:srgbClr val="5497e8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89;p16"/>
          <p:cNvSpPr/>
          <p:nvPr/>
        </p:nvSpPr>
        <p:spPr>
          <a:xfrm>
            <a:off x="360000" y="329760"/>
            <a:ext cx="6839280" cy="13521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7c9f3"/>
              </a:gs>
              <a:gs pos="100000">
                <a:srgbClr val="5497e8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" sz="2900" spc="-1" strike="noStrike">
                <a:solidFill>
                  <a:srgbClr val="ffffff"/>
                </a:solidFill>
                <a:latin typeface="Montserrat SemiBold"/>
                <a:ea typeface="Montserrat SemiBold"/>
              </a:rPr>
              <a:t>Уже с нами</a:t>
            </a:r>
            <a:endParaRPr b="0" lang="ru-RU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Google Shape;90;p16" descr=""/>
          <p:cNvPicPr/>
          <p:nvPr/>
        </p:nvPicPr>
        <p:blipFill>
          <a:blip r:embed="rId1"/>
          <a:srcRect l="0" t="836" r="0" b="-4219"/>
          <a:stretch/>
        </p:blipFill>
        <p:spPr>
          <a:xfrm>
            <a:off x="360000" y="2081880"/>
            <a:ext cx="6839280" cy="2106000"/>
          </a:xfrm>
          <a:prstGeom prst="rect">
            <a:avLst/>
          </a:prstGeom>
          <a:ln w="0">
            <a:noFill/>
          </a:ln>
        </p:spPr>
      </p:pic>
      <p:pic>
        <p:nvPicPr>
          <p:cNvPr id="53" name="Google Shape;91;p16" descr=""/>
          <p:cNvPicPr/>
          <p:nvPr/>
        </p:nvPicPr>
        <p:blipFill>
          <a:blip r:embed="rId2"/>
          <a:srcRect l="0" t="28" r="0" b="28"/>
          <a:stretch/>
        </p:blipFill>
        <p:spPr>
          <a:xfrm>
            <a:off x="1081080" y="4776120"/>
            <a:ext cx="2494800" cy="314244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92;p16" descr=""/>
          <p:cNvPicPr/>
          <p:nvPr/>
        </p:nvPicPr>
        <p:blipFill>
          <a:blip r:embed="rId3"/>
          <a:stretch/>
        </p:blipFill>
        <p:spPr>
          <a:xfrm>
            <a:off x="3984480" y="4770000"/>
            <a:ext cx="2494800" cy="315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2025-09-30T09:48:43Z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