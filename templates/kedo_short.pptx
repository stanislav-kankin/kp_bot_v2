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</p:sldIdLst>
  <p:sldSz cx="7559675" cy="10439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4120" cy="41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78000" y="2442960"/>
            <a:ext cx="6803640" cy="605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E9D1F34-7516-4DEA-BC29-CE2228FF4670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605E18-46EC-4808-A233-5A7CD5607078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92D4FB-9D76-46E8-915E-27405C8DAF7E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5F2FFDE-70C1-4144-9851-04B92550E615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4120" cy="41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378000" y="2442960"/>
            <a:ext cx="6803640" cy="605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1159B9-D64A-4038-BD89-CE105C4ABF46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4120" cy="41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378000" y="2442960"/>
            <a:ext cx="3319920" cy="605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3864240" y="2442960"/>
            <a:ext cx="3319920" cy="605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4FC42E2-230B-4593-81E3-010F0D4A27CA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4120" cy="41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C9686CBF-4E0E-4057-91EE-B6E33B3FBC84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28E1BA7-6B63-4FCF-9F51-5AC18682CC87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EC749AC-D3F5-4C3D-AA80-5C98BE26C4D0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43166E2F-32D2-42EE-97DB-F520099FBDB0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8F91E76-7189-42BD-B42B-3370BAF50A8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4120" cy="41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ru-RU" sz="52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C13F4A-A785-461A-86C1-EB6D8CEDCDF4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378000" y="2442960"/>
            <a:ext cx="6803640" cy="605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57760" y="2245320"/>
            <a:ext cx="7044120" cy="39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12000" spc="-1" strike="noStrike">
                <a:solidFill>
                  <a:schemeClr val="dk1"/>
                </a:solidFill>
                <a:latin typeface="Arial"/>
                <a:ea typeface="Arial"/>
              </a:rPr>
              <a:t>xx%</a:t>
            </a:r>
            <a:endParaRPr b="0" lang="ru-RU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257760" y="6398280"/>
            <a:ext cx="7044120" cy="263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651762-05CB-4E65-A5CC-9D7B1678479F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BD2842-48C8-43C3-8BCC-F0F1EF968ECE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57760" y="4365720"/>
            <a:ext cx="7044120" cy="170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ru-RU" sz="36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80F846-8632-48E2-B591-B703740849F8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57760" y="903240"/>
            <a:ext cx="7044120" cy="116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57760" y="2339280"/>
            <a:ext cx="7044120" cy="69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52EC74-BFF0-4562-B2AC-8D19BB7A7D04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57760" y="903240"/>
            <a:ext cx="7044120" cy="116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257760" y="2339280"/>
            <a:ext cx="3306600" cy="69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069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3995280" y="2339280"/>
            <a:ext cx="3306600" cy="69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069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6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834B7C-EC4F-46C0-A8A0-F76030C673F9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57760" y="903240"/>
            <a:ext cx="7044120" cy="116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7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C8FFF7-CB4F-432A-8130-653D7612EF7E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57760" y="1127880"/>
            <a:ext cx="2321280" cy="15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3713"/>
          </a:bodyPr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57760" y="2820600"/>
            <a:ext cx="2321280" cy="645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49205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8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299976-7E72-477D-886E-1B92E5E8851E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05360" y="913680"/>
            <a:ext cx="5264280" cy="830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ru-RU" sz="4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9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15C0BF-79CD-4199-A328-51CF06EEED2B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6;p9"/>
          <p:cNvSpPr/>
          <p:nvPr/>
        </p:nvSpPr>
        <p:spPr>
          <a:xfrm>
            <a:off x="3780000" y="-360"/>
            <a:ext cx="3779640" cy="10439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19600" y="2503080"/>
            <a:ext cx="3344040" cy="30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7361"/>
          </a:bodyPr>
          <a:p>
            <a:pPr indent="0">
              <a:buNone/>
            </a:pPr>
            <a:r>
              <a:rPr b="0" lang="ru-RU" sz="42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083840" y="1469520"/>
            <a:ext cx="3171960" cy="749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62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10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58F9CB-D941-4228-B1C4-97DD42F720F2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body"/>
          </p:nvPr>
        </p:nvSpPr>
        <p:spPr>
          <a:xfrm>
            <a:off x="257760" y="8587080"/>
            <a:ext cx="4959360" cy="122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1"/>
          </p:nvPr>
        </p:nvSpPr>
        <p:spPr>
          <a:xfrm>
            <a:off x="7004880" y="9465120"/>
            <a:ext cx="45324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E80449-378C-4385-A36B-09531348E755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54;p13"/>
          <p:cNvSpPr/>
          <p:nvPr/>
        </p:nvSpPr>
        <p:spPr>
          <a:xfrm>
            <a:off x="360000" y="329760"/>
            <a:ext cx="6839640" cy="24930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0" lang="ru" sz="26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Коммерческое предложение 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0" lang="ru" sz="26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HRlink для компании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1" lang="ru" sz="2600" spc="-1" strike="noStrike">
                <a:solidFill>
                  <a:srgbClr val="ffffff"/>
                </a:solidFill>
                <a:latin typeface="Montserrat"/>
                <a:ea typeface="Montserrat"/>
              </a:rPr>
              <a:t>Название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55;p13"/>
          <p:cNvSpPr/>
          <p:nvPr/>
        </p:nvSpPr>
        <p:spPr>
          <a:xfrm>
            <a:off x="284760" y="3332520"/>
            <a:ext cx="683964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1200" spc="-1" strike="noStrike">
                <a:solidFill>
                  <a:srgbClr val="2c2d2e"/>
                </a:solidFill>
                <a:latin typeface="Montserrat"/>
                <a:ea typeface="Montserrat"/>
              </a:rPr>
              <a:t>КЭДО HRlink — это платформа №1</a:t>
            </a:r>
            <a:r>
              <a:rPr b="0" lang="ru" sz="12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 для автоматизации кадрового документооборота  по версии РБК в 2025 году. Мы помогаем подписывать кадровые документы онлайн за 1 минуту.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56;p13"/>
          <p:cNvSpPr/>
          <p:nvPr/>
        </p:nvSpPr>
        <p:spPr>
          <a:xfrm>
            <a:off x="264600" y="4442400"/>
            <a:ext cx="6741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800" spc="-1" strike="noStrike">
                <a:solidFill>
                  <a:srgbClr val="2c2d2e"/>
                </a:solidFill>
                <a:latin typeface="Montserrat"/>
                <a:ea typeface="Montserrat"/>
              </a:rPr>
              <a:t>КЭДО HRlink дает вам очевидные преимущества: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" name="Google Shape;57;p13" descr=""/>
          <p:cNvPicPr/>
          <p:nvPr/>
        </p:nvPicPr>
        <p:blipFill>
          <a:blip r:embed="rId1"/>
          <a:stretch/>
        </p:blipFill>
        <p:spPr>
          <a:xfrm>
            <a:off x="360000" y="5018040"/>
            <a:ext cx="613440" cy="613440"/>
          </a:xfrm>
          <a:prstGeom prst="rect">
            <a:avLst/>
          </a:prstGeom>
          <a:ln w="0">
            <a:noFill/>
          </a:ln>
        </p:spPr>
      </p:pic>
      <p:pic>
        <p:nvPicPr>
          <p:cNvPr id="41" name="Google Shape;58;p13" descr=""/>
          <p:cNvPicPr/>
          <p:nvPr/>
        </p:nvPicPr>
        <p:blipFill>
          <a:blip r:embed="rId2"/>
          <a:stretch/>
        </p:blipFill>
        <p:spPr>
          <a:xfrm>
            <a:off x="360000" y="5796720"/>
            <a:ext cx="613440" cy="613440"/>
          </a:xfrm>
          <a:prstGeom prst="rect">
            <a:avLst/>
          </a:prstGeom>
          <a:ln w="0">
            <a:noFill/>
          </a:ln>
        </p:spPr>
      </p:pic>
      <p:pic>
        <p:nvPicPr>
          <p:cNvPr id="42" name="Google Shape;59;p13" descr=""/>
          <p:cNvPicPr/>
          <p:nvPr/>
        </p:nvPicPr>
        <p:blipFill>
          <a:blip r:embed="rId3"/>
          <a:stretch/>
        </p:blipFill>
        <p:spPr>
          <a:xfrm>
            <a:off x="3825000" y="5018040"/>
            <a:ext cx="613440" cy="613440"/>
          </a:xfrm>
          <a:prstGeom prst="rect">
            <a:avLst/>
          </a:prstGeom>
          <a:ln w="0">
            <a:noFill/>
          </a:ln>
        </p:spPr>
      </p:pic>
      <p:pic>
        <p:nvPicPr>
          <p:cNvPr id="43" name="Google Shape;60;p13" descr=""/>
          <p:cNvPicPr/>
          <p:nvPr/>
        </p:nvPicPr>
        <p:blipFill>
          <a:blip r:embed="rId4"/>
          <a:stretch/>
        </p:blipFill>
        <p:spPr>
          <a:xfrm>
            <a:off x="3825000" y="5838120"/>
            <a:ext cx="613440" cy="613440"/>
          </a:xfrm>
          <a:prstGeom prst="rect">
            <a:avLst/>
          </a:prstGeom>
          <a:ln w="0">
            <a:noFill/>
          </a:ln>
        </p:spPr>
      </p:pic>
      <p:sp>
        <p:nvSpPr>
          <p:cNvPr id="44" name="Google Shape;61;p13"/>
          <p:cNvSpPr/>
          <p:nvPr/>
        </p:nvSpPr>
        <p:spPr>
          <a:xfrm>
            <a:off x="1111320" y="5015160"/>
            <a:ext cx="17460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подписание 75% документов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в первый день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62;p13"/>
          <p:cNvSpPr/>
          <p:nvPr/>
        </p:nvSpPr>
        <p:spPr>
          <a:xfrm>
            <a:off x="1111320" y="5796720"/>
            <a:ext cx="17460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риск штрафов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в связи с утерей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документов — 0%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Google Shape;63;p13"/>
          <p:cNvSpPr/>
          <p:nvPr/>
        </p:nvSpPr>
        <p:spPr>
          <a:xfrm>
            <a:off x="4597560" y="5017320"/>
            <a:ext cx="201672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экономия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на документообороте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до 10 раз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Google Shape;64;p13"/>
          <p:cNvSpPr/>
          <p:nvPr/>
        </p:nvSpPr>
        <p:spPr>
          <a:xfrm>
            <a:off x="4597560" y="5796720"/>
            <a:ext cx="233424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прозрачные процессы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КДП с аналитикой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по документам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Google Shape;65;p13"/>
          <p:cNvSpPr/>
          <p:nvPr/>
        </p:nvSpPr>
        <p:spPr>
          <a:xfrm>
            <a:off x="317520" y="6846840"/>
            <a:ext cx="67413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800" spc="-1" strike="noStrike">
                <a:solidFill>
                  <a:srgbClr val="2c2d2e"/>
                </a:solidFill>
                <a:latin typeface="Montserrat"/>
                <a:ea typeface="Montserrat"/>
              </a:rPr>
              <a:t>Более 5 лет создаем решения, которые формируют рынок КЭДО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" name="Google Shape;66;p13" descr=""/>
          <p:cNvPicPr/>
          <p:nvPr/>
        </p:nvPicPr>
        <p:blipFill>
          <a:blip r:embed="rId5"/>
          <a:stretch/>
        </p:blipFill>
        <p:spPr>
          <a:xfrm>
            <a:off x="360000" y="7640640"/>
            <a:ext cx="6797160" cy="1629360"/>
          </a:xfrm>
          <a:prstGeom prst="rect">
            <a:avLst/>
          </a:prstGeom>
          <a:ln w="0">
            <a:noFill/>
          </a:ln>
        </p:spPr>
      </p:pic>
      <p:pic>
        <p:nvPicPr>
          <p:cNvPr id="50" name="Google Shape;67;p13" descr=""/>
          <p:cNvPicPr/>
          <p:nvPr/>
        </p:nvPicPr>
        <p:blipFill>
          <a:blip r:embed="rId6"/>
          <a:stretch/>
        </p:blipFill>
        <p:spPr>
          <a:xfrm rot="886200">
            <a:off x="5356800" y="912240"/>
            <a:ext cx="2314080" cy="2317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72;p14"/>
          <p:cNvSpPr/>
          <p:nvPr/>
        </p:nvSpPr>
        <p:spPr>
          <a:xfrm>
            <a:off x="360000" y="329760"/>
            <a:ext cx="6839640" cy="13525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ru" sz="2600" spc="-1" strike="noStrike">
                <a:solidFill>
                  <a:srgbClr val="ffffff"/>
                </a:solidFill>
                <a:latin typeface="Montserrat"/>
                <a:ea typeface="Montserrat"/>
              </a:rPr>
              <a:t>В сервисе уже есть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2" name="Google Shape;73;p14"/>
          <p:cNvGraphicFramePr/>
          <p:nvPr/>
        </p:nvGraphicFramePr>
        <p:xfrm>
          <a:off x="203040" y="1963080"/>
          <a:ext cx="6905880" cy="4779720"/>
        </p:xfrm>
        <a:graphic>
          <a:graphicData uri="http://schemas.openxmlformats.org/drawingml/2006/table">
            <a:tbl>
              <a:tblPr/>
              <a:tblGrid>
                <a:gridCol w="3742560"/>
                <a:gridCol w="3163320"/>
              </a:tblGrid>
              <a:tr h="72972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облачное размещение и хранение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на наших серверах или on-premise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на ваших собственных серверах;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бесшовная загрузка документов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данных о сотрудниках;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мобильное приложение,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веб- и мобильная версии;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все виды электронных подписей;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модули: графика отпусков, ЛНА, выпуска МЧД, отправки расчетных листков;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массовая отправка документов;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конструктор гибких маршрутов подписания документов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заявлений (безлимит);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массовое подписание УКЭП;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доступ к корпоративным сервисам компании через SSO — единое окно входа;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бесплатные уведомления (email, Telegram, push-уведомления);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работа со всеми типами персонала: сотрудники в штате, по договору ГПХ, самозанятые, ИП;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аналитика по документам;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все категории совместителей;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удобный электронный архив.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3" name="Google Shape;74;p14"/>
          <p:cNvSpPr/>
          <p:nvPr/>
        </p:nvSpPr>
        <p:spPr>
          <a:xfrm>
            <a:off x="360000" y="7185600"/>
            <a:ext cx="6839640" cy="24847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Google Shape;75;p14"/>
          <p:cNvSpPr/>
          <p:nvPr/>
        </p:nvSpPr>
        <p:spPr>
          <a:xfrm>
            <a:off x="736920" y="7995960"/>
            <a:ext cx="3349080" cy="8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2000" spc="-1" strike="noStrike">
                <a:solidFill>
                  <a:srgbClr val="ffffff"/>
                </a:solidFill>
                <a:latin typeface="Montserrat"/>
                <a:ea typeface="Montserrat"/>
              </a:rPr>
              <a:t>Подробнее обо всех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2000" spc="-1" strike="noStrike">
                <a:solidFill>
                  <a:srgbClr val="ffffff"/>
                </a:solidFill>
                <a:latin typeface="Montserrat"/>
                <a:ea typeface="Montserrat"/>
              </a:rPr>
              <a:t>возможностях сервиса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Google Shape;76;p14" descr=""/>
          <p:cNvPicPr/>
          <p:nvPr/>
        </p:nvPicPr>
        <p:blipFill>
          <a:blip r:embed="rId1"/>
          <a:stretch/>
        </p:blipFill>
        <p:spPr>
          <a:xfrm>
            <a:off x="4898880" y="7503480"/>
            <a:ext cx="1848960" cy="1848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81;p15"/>
          <p:cNvSpPr/>
          <p:nvPr/>
        </p:nvSpPr>
        <p:spPr>
          <a:xfrm>
            <a:off x="360000" y="329760"/>
            <a:ext cx="6839640" cy="13525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Также в стоимость входит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7" name="Google Shape;82;p15"/>
          <p:cNvGraphicFramePr/>
          <p:nvPr/>
        </p:nvGraphicFramePr>
        <p:xfrm>
          <a:off x="203040" y="1963080"/>
          <a:ext cx="6905880" cy="2700000"/>
        </p:xfrm>
        <a:graphic>
          <a:graphicData uri="http://schemas.openxmlformats.org/drawingml/2006/table">
            <a:tbl>
              <a:tblPr/>
              <a:tblGrid>
                <a:gridCol w="3742560"/>
                <a:gridCol w="3163320"/>
              </a:tblGrid>
              <a:tr h="72972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интеграция со всеми рабочими сервисами: «1С», «БОСС-Кадровик»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т. д.;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внедрение системы;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консультации выделенного инженера при развертывании;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обучение всех сотрудников;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нормативная документация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для перехода;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выпуск подписи типа УНЭП, использование: ПЭП «Госуслуги», «Госключ», УКЭП;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обновления и техподдержка по SLA;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массовая отправка документов.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Google Shape;83;p15"/>
          <p:cNvSpPr/>
          <p:nvPr/>
        </p:nvSpPr>
        <p:spPr>
          <a:xfrm>
            <a:off x="360000" y="5049360"/>
            <a:ext cx="6839640" cy="13525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7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Стоимость HRlink на 12 месяцев </a:t>
            </a:r>
            <a:endParaRPr b="0" lang="ru-RU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7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для вас составит</a:t>
            </a:r>
            <a:endParaRPr b="0" lang="ru-RU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145 000 ₽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9" name="Google Shape;84;p15"/>
          <p:cNvGraphicFramePr/>
          <p:nvPr/>
        </p:nvGraphicFramePr>
        <p:xfrm>
          <a:off x="442440" y="6701400"/>
          <a:ext cx="6839640" cy="3197880"/>
        </p:xfrm>
        <a:graphic>
          <a:graphicData uri="http://schemas.openxmlformats.org/drawingml/2006/table">
            <a:tbl>
              <a:tblPr/>
              <a:tblGrid>
                <a:gridCol w="1368000"/>
                <a:gridCol w="1368000"/>
                <a:gridCol w="1368000"/>
                <a:gridCol w="1368000"/>
                <a:gridCol w="1368000"/>
              </a:tblGrid>
              <a:tr h="380880"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Тип лицензии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Стоимость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Количество лицензий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Срок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Сумма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</a:tr>
              <a:tr h="3808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Базовая лицензия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on-premise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600 000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600 000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кадровика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2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30 000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сотрудника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 gridSpan="4"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Итоговая сумма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145 000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89;p16"/>
          <p:cNvSpPr/>
          <p:nvPr/>
        </p:nvSpPr>
        <p:spPr>
          <a:xfrm>
            <a:off x="360000" y="329760"/>
            <a:ext cx="6839640" cy="13525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Уже с нами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Google Shape;90;p16" descr=""/>
          <p:cNvPicPr/>
          <p:nvPr/>
        </p:nvPicPr>
        <p:blipFill>
          <a:blip r:embed="rId1"/>
          <a:srcRect l="0" t="836" r="0" b="-4219"/>
          <a:stretch/>
        </p:blipFill>
        <p:spPr>
          <a:xfrm>
            <a:off x="360000" y="2081880"/>
            <a:ext cx="6839640" cy="2106360"/>
          </a:xfrm>
          <a:prstGeom prst="rect">
            <a:avLst/>
          </a:prstGeom>
          <a:ln w="0">
            <a:noFill/>
          </a:ln>
        </p:spPr>
      </p:pic>
      <p:pic>
        <p:nvPicPr>
          <p:cNvPr id="62" name="Google Shape;91;p16" descr=""/>
          <p:cNvPicPr/>
          <p:nvPr/>
        </p:nvPicPr>
        <p:blipFill>
          <a:blip r:embed="rId2"/>
          <a:srcRect l="0" t="28" r="0" b="28"/>
          <a:stretch/>
        </p:blipFill>
        <p:spPr>
          <a:xfrm>
            <a:off x="1081080" y="4776120"/>
            <a:ext cx="2495160" cy="3142800"/>
          </a:xfrm>
          <a:prstGeom prst="rect">
            <a:avLst/>
          </a:prstGeom>
          <a:ln w="0">
            <a:noFill/>
          </a:ln>
        </p:spPr>
      </p:pic>
      <p:pic>
        <p:nvPicPr>
          <p:cNvPr id="63" name="Google Shape;92;p16" descr=""/>
          <p:cNvPicPr/>
          <p:nvPr/>
        </p:nvPicPr>
        <p:blipFill>
          <a:blip r:embed="rId3"/>
          <a:stretch/>
        </p:blipFill>
        <p:spPr>
          <a:xfrm>
            <a:off x="3984480" y="4770000"/>
            <a:ext cx="2495160" cy="3152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2025-09-24T15:17:30Z</dcterms:modified>
  <cp:revision>1</cp:revision>
  <dc:subject/>
  <dc:title/>
</cp:coreProperties>
</file>