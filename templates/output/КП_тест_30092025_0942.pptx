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</p:sldIdLst>
  <p:sldSz cx="7559675" cy="104394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257760" y="1511280"/>
            <a:ext cx="7044120" cy="41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378000" y="2442960"/>
            <a:ext cx="6803640" cy="60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EB8A61F-DB23-4178-A5D1-D765395A690F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86211D1-35DD-4062-BBC8-A9CDC65AD4C6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D659DE-E718-4C8D-9ED6-E66778C47660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D2C624D-337A-4B90-BC9F-23B082D92D57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257760" y="1511280"/>
            <a:ext cx="7044120" cy="41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378000" y="2442960"/>
            <a:ext cx="6803640" cy="60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BDE8703-A2AF-44D9-9478-F03E24FE6F75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257760" y="1511280"/>
            <a:ext cx="7044120" cy="41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378000" y="2442960"/>
            <a:ext cx="3319920" cy="60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3864240" y="2442960"/>
            <a:ext cx="3319920" cy="60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566F7A-208B-4B42-B6AC-EECABED67278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257760" y="1511280"/>
            <a:ext cx="7044120" cy="41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DD57B839-55A0-412B-A5D3-35E252DEB2DD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8F793BD-FF7C-42C7-B863-B17FC2A14FD7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9AC7473-1468-4CF0-94DA-6E82BC5C7886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90E992ED-A52D-47E2-8301-D4AB152085E3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FA7C039-9F78-4E4D-A633-C3716AA96414}" type="slidenum">
              <a:t>&lt;#&gt;</a:t>
            </a:fld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257760" y="1511280"/>
            <a:ext cx="7044120" cy="416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ru-RU" sz="52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7004880" y="9465120"/>
            <a:ext cx="45324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2C9693-136D-4D88-9C33-E323CE63E09C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378000" y="2442960"/>
            <a:ext cx="6803640" cy="60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57760" y="2245320"/>
            <a:ext cx="7044120" cy="39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0" lang="ru-RU" sz="12000" spc="-1" strike="noStrike">
                <a:solidFill>
                  <a:schemeClr val="dk1"/>
                </a:solidFill>
                <a:latin typeface="Arial"/>
                <a:ea typeface="Arial"/>
              </a:rPr>
              <a:t>xx%</a:t>
            </a:r>
            <a:endParaRPr b="0" lang="ru-RU" sz="1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257760" y="6398280"/>
            <a:ext cx="7044120" cy="263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7004880" y="9465120"/>
            <a:ext cx="45324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8DA3FE-5E25-457B-88B3-BB899B82F3E2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3"/>
          </p:nvPr>
        </p:nvSpPr>
        <p:spPr>
          <a:xfrm>
            <a:off x="7004880" y="9465120"/>
            <a:ext cx="45324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167F6C-D1BB-4B01-ADA4-542825578181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57760" y="4365720"/>
            <a:ext cx="7044120" cy="170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ru-RU" sz="36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4"/>
          </p:nvPr>
        </p:nvSpPr>
        <p:spPr>
          <a:xfrm>
            <a:off x="7004880" y="9465120"/>
            <a:ext cx="45324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60290C1-DD06-4FF4-887E-4D3DF3EF4BAB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257760" y="903240"/>
            <a:ext cx="7044120" cy="116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257760" y="2339280"/>
            <a:ext cx="7044120" cy="693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5"/>
          </p:nvPr>
        </p:nvSpPr>
        <p:spPr>
          <a:xfrm>
            <a:off x="7004880" y="9465120"/>
            <a:ext cx="45324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64DB7F-6C67-4ED2-B1AC-4F829D325FF6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257760" y="903240"/>
            <a:ext cx="7044120" cy="116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257760" y="2339280"/>
            <a:ext cx="3306600" cy="693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069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3995280" y="2339280"/>
            <a:ext cx="3306600" cy="693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069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6"/>
          </p:nvPr>
        </p:nvSpPr>
        <p:spPr>
          <a:xfrm>
            <a:off x="7004880" y="9465120"/>
            <a:ext cx="45324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1A77680-E727-440A-BA67-04118EFE6D71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57760" y="903240"/>
            <a:ext cx="7044120" cy="116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ldNum" idx="7"/>
          </p:nvPr>
        </p:nvSpPr>
        <p:spPr>
          <a:xfrm>
            <a:off x="7004880" y="9465120"/>
            <a:ext cx="45324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0D6B5F-86C2-4DA6-9F41-D12230A28B7A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57760" y="1127880"/>
            <a:ext cx="2321280" cy="153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3713"/>
          </a:bodyPr>
          <a:p>
            <a:pPr indent="0">
              <a:buNone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257760" y="2820600"/>
            <a:ext cx="2321280" cy="645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9205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8"/>
          </p:nvPr>
        </p:nvSpPr>
        <p:spPr>
          <a:xfrm>
            <a:off x="7004880" y="9465120"/>
            <a:ext cx="45324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902251-3F9C-4E6A-92AD-5513D479B2AE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05360" y="913680"/>
            <a:ext cx="5264280" cy="830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ru-RU" sz="4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9"/>
          </p:nvPr>
        </p:nvSpPr>
        <p:spPr>
          <a:xfrm>
            <a:off x="7004880" y="9465120"/>
            <a:ext cx="45324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32C628-830C-4769-9612-BF38514B8E78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6;p9"/>
          <p:cNvSpPr/>
          <p:nvPr/>
        </p:nvSpPr>
        <p:spPr>
          <a:xfrm>
            <a:off x="3780000" y="-360"/>
            <a:ext cx="3779640" cy="10439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19600" y="2503080"/>
            <a:ext cx="3344040" cy="3008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87361"/>
          </a:bodyPr>
          <a:p>
            <a:pPr indent="0">
              <a:buNone/>
            </a:pPr>
            <a:r>
              <a:rPr b="0" lang="ru-RU" sz="42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083840" y="1469520"/>
            <a:ext cx="3171960" cy="749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62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sldNum" idx="10"/>
          </p:nvPr>
        </p:nvSpPr>
        <p:spPr>
          <a:xfrm>
            <a:off x="7004880" y="9465120"/>
            <a:ext cx="45324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F368A79-244A-41D2-9994-486506B2CB96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body"/>
          </p:nvPr>
        </p:nvSpPr>
        <p:spPr>
          <a:xfrm>
            <a:off x="257760" y="8587080"/>
            <a:ext cx="4959360" cy="12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37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11"/>
          </p:nvPr>
        </p:nvSpPr>
        <p:spPr>
          <a:xfrm>
            <a:off x="7004880" y="9465120"/>
            <a:ext cx="45324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D64BA7A-6BF5-485B-8A06-244FD2292519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9.png"/><Relationship Id="rId4" Type="http://schemas.openxmlformats.org/officeDocument/2006/relationships/image" Target="../media/image9.png"/><Relationship Id="rId5" Type="http://schemas.openxmlformats.org/officeDocument/2006/relationships/image" Target="../media/image9.png"/><Relationship Id="rId6" Type="http://schemas.openxmlformats.org/officeDocument/2006/relationships/image" Target="../media/image9.png"/><Relationship Id="rId7" Type="http://schemas.openxmlformats.org/officeDocument/2006/relationships/image" Target="../media/image9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54;p13"/>
          <p:cNvSpPr/>
          <p:nvPr/>
        </p:nvSpPr>
        <p:spPr>
          <a:xfrm>
            <a:off x="360000" y="329760"/>
            <a:ext cx="6839640" cy="24930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7c9f3"/>
              </a:gs>
              <a:gs pos="100000">
                <a:srgbClr val="5497e8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ru" sz="2600" spc="-1" strike="noStrike">
                <a:solidFill>
                  <a:srgbClr val="ffffff"/>
                </a:solidFill>
                <a:latin typeface="Montserrat Medium"/>
                <a:ea typeface="Montserrat Medium"/>
              </a:rPr>
              <a:t>Коммерческое предложение 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ru" sz="2600" spc="-1" strike="noStrike">
                <a:solidFill>
                  <a:srgbClr val="ffffff"/>
                </a:solidFill>
                <a:latin typeface="Montserrat Medium"/>
                <a:ea typeface="Montserrat Medium"/>
              </a:rPr>
              <a:t>HRlink для компании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ru" sz="2600" spc="-1" strike="noStrike">
                <a:solidFill>
                  <a:srgbClr val="FFFFFF"/>
                </a:solidFill>
                <a:latin typeface="Montserrat"/>
                <a:ea typeface="Montserrat"/>
              </a:rPr>
              <a:t>тест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Google Shape;55;p13"/>
          <p:cNvSpPr/>
          <p:nvPr/>
        </p:nvSpPr>
        <p:spPr>
          <a:xfrm>
            <a:off x="284760" y="3332520"/>
            <a:ext cx="683964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ru" sz="1200" spc="-1" strike="noStrike">
                <a:solidFill>
                  <a:srgbClr val="2c2d2e"/>
                </a:solidFill>
                <a:latin typeface="Montserrat"/>
                <a:ea typeface="Montserrat"/>
              </a:rPr>
              <a:t>КЭДО HRlink — это платформа №1</a:t>
            </a:r>
            <a:r>
              <a:rPr b="0" lang="ru" sz="12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 для автоматизации кадрового документооборота  по версии РБК в 2025 году. Мы помогаем подписывать кадровые документы онлайн за 1 минуту.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Google Shape;56;p13"/>
          <p:cNvSpPr/>
          <p:nvPr/>
        </p:nvSpPr>
        <p:spPr>
          <a:xfrm>
            <a:off x="264600" y="4442400"/>
            <a:ext cx="67413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800" spc="-1" strike="noStrike">
                <a:solidFill>
                  <a:srgbClr val="2c2d2e"/>
                </a:solidFill>
                <a:latin typeface="Montserrat"/>
                <a:ea typeface="Montserrat"/>
              </a:rPr>
              <a:t>КЭДО HRlink дает вам очевидные преимущества: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" name="Google Shape;57;p13" descr=""/>
          <p:cNvPicPr/>
          <p:nvPr/>
        </p:nvPicPr>
        <p:blipFill>
          <a:blip r:embed="rId1"/>
          <a:stretch/>
        </p:blipFill>
        <p:spPr>
          <a:xfrm>
            <a:off x="360000" y="5018040"/>
            <a:ext cx="613440" cy="613440"/>
          </a:xfrm>
          <a:prstGeom prst="rect">
            <a:avLst/>
          </a:prstGeom>
          <a:ln w="0">
            <a:noFill/>
          </a:ln>
        </p:spPr>
      </p:pic>
      <p:pic>
        <p:nvPicPr>
          <p:cNvPr id="41" name="Google Shape;58;p13" descr=""/>
          <p:cNvPicPr/>
          <p:nvPr/>
        </p:nvPicPr>
        <p:blipFill>
          <a:blip r:embed="rId2"/>
          <a:stretch/>
        </p:blipFill>
        <p:spPr>
          <a:xfrm>
            <a:off x="360000" y="5796720"/>
            <a:ext cx="613440" cy="613440"/>
          </a:xfrm>
          <a:prstGeom prst="rect">
            <a:avLst/>
          </a:prstGeom>
          <a:ln w="0">
            <a:noFill/>
          </a:ln>
        </p:spPr>
      </p:pic>
      <p:pic>
        <p:nvPicPr>
          <p:cNvPr id="42" name="Google Shape;59;p13" descr=""/>
          <p:cNvPicPr/>
          <p:nvPr/>
        </p:nvPicPr>
        <p:blipFill>
          <a:blip r:embed="rId3"/>
          <a:stretch/>
        </p:blipFill>
        <p:spPr>
          <a:xfrm>
            <a:off x="3825000" y="5018040"/>
            <a:ext cx="613440" cy="613440"/>
          </a:xfrm>
          <a:prstGeom prst="rect">
            <a:avLst/>
          </a:prstGeom>
          <a:ln w="0">
            <a:noFill/>
          </a:ln>
        </p:spPr>
      </p:pic>
      <p:pic>
        <p:nvPicPr>
          <p:cNvPr id="43" name="Google Shape;60;p13" descr=""/>
          <p:cNvPicPr/>
          <p:nvPr/>
        </p:nvPicPr>
        <p:blipFill>
          <a:blip r:embed="rId4"/>
          <a:stretch/>
        </p:blipFill>
        <p:spPr>
          <a:xfrm>
            <a:off x="3825000" y="5838120"/>
            <a:ext cx="613440" cy="613440"/>
          </a:xfrm>
          <a:prstGeom prst="rect">
            <a:avLst/>
          </a:prstGeom>
          <a:ln w="0">
            <a:noFill/>
          </a:ln>
        </p:spPr>
      </p:pic>
      <p:sp>
        <p:nvSpPr>
          <p:cNvPr id="44" name="Google Shape;61;p13"/>
          <p:cNvSpPr/>
          <p:nvPr/>
        </p:nvSpPr>
        <p:spPr>
          <a:xfrm>
            <a:off x="1111320" y="5015160"/>
            <a:ext cx="174600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подписание 75% документов 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в первый день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Google Shape;62;p13"/>
          <p:cNvSpPr/>
          <p:nvPr/>
        </p:nvSpPr>
        <p:spPr>
          <a:xfrm>
            <a:off x="1111320" y="5796720"/>
            <a:ext cx="174600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141416"/>
                </a:solidFill>
                <a:latin typeface="Montserrat Medium"/>
                <a:ea typeface="Montserrat Medium"/>
              </a:rPr>
              <a:t>риск штрафов 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141416"/>
                </a:solidFill>
                <a:latin typeface="Montserrat Medium"/>
                <a:ea typeface="Montserrat Medium"/>
              </a:rPr>
              <a:t>в связи с утерей 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141416"/>
                </a:solidFill>
                <a:latin typeface="Montserrat Medium"/>
                <a:ea typeface="Montserrat Medium"/>
              </a:rPr>
              <a:t>документов — 0%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Google Shape;63;p13"/>
          <p:cNvSpPr/>
          <p:nvPr/>
        </p:nvSpPr>
        <p:spPr>
          <a:xfrm>
            <a:off x="4597560" y="5017320"/>
            <a:ext cx="201672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экономия 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на документообороте 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до 10 раз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Google Shape;64;p13"/>
          <p:cNvSpPr/>
          <p:nvPr/>
        </p:nvSpPr>
        <p:spPr>
          <a:xfrm>
            <a:off x="4597560" y="5796720"/>
            <a:ext cx="233424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141416"/>
                </a:solidFill>
                <a:latin typeface="Montserrat Medium"/>
                <a:ea typeface="Montserrat Medium"/>
              </a:rPr>
              <a:t>прозрачные процессы 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141416"/>
                </a:solidFill>
                <a:latin typeface="Montserrat Medium"/>
                <a:ea typeface="Montserrat Medium"/>
              </a:rPr>
              <a:t>КДП с аналитикой 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141416"/>
                </a:solidFill>
                <a:latin typeface="Montserrat Medium"/>
                <a:ea typeface="Montserrat Medium"/>
              </a:rPr>
              <a:t>по документам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Google Shape;65;p13"/>
          <p:cNvSpPr/>
          <p:nvPr/>
        </p:nvSpPr>
        <p:spPr>
          <a:xfrm>
            <a:off x="317520" y="6846840"/>
            <a:ext cx="67413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800" spc="-1" strike="noStrike">
                <a:solidFill>
                  <a:srgbClr val="2c2d2e"/>
                </a:solidFill>
                <a:latin typeface="Montserrat"/>
                <a:ea typeface="Montserrat"/>
              </a:rPr>
              <a:t>Более 5 лет создаем решения, которые формируют рынок КЭДО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" name="Google Shape;66;p13" descr=""/>
          <p:cNvPicPr/>
          <p:nvPr/>
        </p:nvPicPr>
        <p:blipFill>
          <a:blip r:embed="rId5"/>
          <a:stretch/>
        </p:blipFill>
        <p:spPr>
          <a:xfrm>
            <a:off x="360000" y="7640640"/>
            <a:ext cx="6797160" cy="1629360"/>
          </a:xfrm>
          <a:prstGeom prst="rect">
            <a:avLst/>
          </a:prstGeom>
          <a:ln w="0">
            <a:noFill/>
          </a:ln>
        </p:spPr>
      </p:pic>
      <p:pic>
        <p:nvPicPr>
          <p:cNvPr id="50" name="Google Shape;67;p13" descr=""/>
          <p:cNvPicPr/>
          <p:nvPr/>
        </p:nvPicPr>
        <p:blipFill>
          <a:blip r:embed="rId6"/>
          <a:stretch/>
        </p:blipFill>
        <p:spPr>
          <a:xfrm rot="886200">
            <a:off x="5356800" y="912240"/>
            <a:ext cx="2314080" cy="2317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72;p14"/>
          <p:cNvSpPr/>
          <p:nvPr/>
        </p:nvSpPr>
        <p:spPr>
          <a:xfrm>
            <a:off x="360000" y="329760"/>
            <a:ext cx="6839640" cy="13525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7c9f3"/>
              </a:gs>
              <a:gs pos="100000">
                <a:srgbClr val="5497e8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1" lang="ru" sz="2600" spc="-1" strike="noStrike">
                <a:solidFill>
                  <a:srgbClr val="ffffff"/>
                </a:solidFill>
                <a:latin typeface="Montserrat"/>
                <a:ea typeface="Montserrat"/>
              </a:rPr>
              <a:t>В сервисе уже есть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2" name="Google Shape;73;p14"/>
          <p:cNvGraphicFramePr/>
          <p:nvPr/>
        </p:nvGraphicFramePr>
        <p:xfrm>
          <a:off x="203040" y="1963080"/>
          <a:ext cx="6905880" cy="4779720"/>
        </p:xfrm>
        <a:graphic>
          <a:graphicData uri="http://schemas.openxmlformats.org/drawingml/2006/table">
            <a:tbl>
              <a:tblPr/>
              <a:tblGrid>
                <a:gridCol w="3742560"/>
                <a:gridCol w="3163320"/>
              </a:tblGrid>
              <a:tr h="72972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облачное размещение и хранение </a:t>
                      </a:r>
                      <a:br>
                        <a:rPr sz="1100"/>
                      </a:b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на наших серверах или on-premise </a:t>
                      </a:r>
                      <a:br>
                        <a:rPr sz="1100"/>
                      </a:b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на ваших собственных серверах;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бесшовная загрузка документов 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5720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и данных о сотрудниках;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мобильное приложение, 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5720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веб- и мобильная версии;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все виды электронных подписей;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модули: графика отпусков, ЛНА, выпуска МЧД, отправки расчетных листков;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массовая отправка документов;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конструктор гибких маршрутов подписания документов </a:t>
                      </a:r>
                      <a:br>
                        <a:rPr sz="1100"/>
                      </a:b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и заявлений (безлимит);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массовое подписание УКЭП;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доступ к корпоративным сервисам компании через SSO — единое окно входа;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бесплатные уведомления (email, Telegram, push-уведомления);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работа со всеми типами персонала: сотрудники в штате, по договору ГПХ, самозанятые, ИП;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аналитика по документам;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все категории совместителей;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00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удобный электронный архив.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3" name="Google Shape;74;p14"/>
          <p:cNvSpPr/>
          <p:nvPr/>
        </p:nvSpPr>
        <p:spPr>
          <a:xfrm>
            <a:off x="360000" y="7185600"/>
            <a:ext cx="6839640" cy="24847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7c9f3"/>
              </a:gs>
              <a:gs pos="100000">
                <a:srgbClr val="5497e8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Google Shape;75;p14"/>
          <p:cNvSpPr/>
          <p:nvPr/>
        </p:nvSpPr>
        <p:spPr>
          <a:xfrm>
            <a:off x="736920" y="7995960"/>
            <a:ext cx="3349080" cy="86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ru" sz="2000" spc="-1" strike="noStrike">
                <a:solidFill>
                  <a:srgbClr val="ffffff"/>
                </a:solidFill>
                <a:latin typeface="Montserrat"/>
                <a:ea typeface="Montserrat"/>
              </a:rPr>
              <a:t>Подробнее обо всех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ru" sz="2000" spc="-1" strike="noStrike">
                <a:solidFill>
                  <a:srgbClr val="ffffff"/>
                </a:solidFill>
                <a:latin typeface="Montserrat"/>
                <a:ea typeface="Montserrat"/>
              </a:rPr>
              <a:t>возможностях сервиса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" name="Google Shape;76;p14" descr=""/>
          <p:cNvPicPr/>
          <p:nvPr/>
        </p:nvPicPr>
        <p:blipFill>
          <a:blip r:embed="rId1"/>
          <a:stretch/>
        </p:blipFill>
        <p:spPr>
          <a:xfrm>
            <a:off x="4898880" y="7503480"/>
            <a:ext cx="1848960" cy="1848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81;p15"/>
          <p:cNvSpPr/>
          <p:nvPr/>
        </p:nvSpPr>
        <p:spPr>
          <a:xfrm>
            <a:off x="360000" y="329760"/>
            <a:ext cx="6839640" cy="13525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7c9f3"/>
              </a:gs>
              <a:gs pos="100000">
                <a:srgbClr val="5497e8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2900" spc="-1" strike="noStrike">
                <a:solidFill>
                  <a:srgbClr val="ffffff"/>
                </a:solidFill>
                <a:latin typeface="Montserrat SemiBold"/>
                <a:ea typeface="Montserrat SemiBold"/>
              </a:rPr>
              <a:t>Также в стоимость входит</a:t>
            </a:r>
            <a:endParaRPr b="0" lang="ru-RU" sz="29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7" name="Google Shape;82;p15"/>
          <p:cNvGraphicFramePr/>
          <p:nvPr/>
        </p:nvGraphicFramePr>
        <p:xfrm>
          <a:off x="203040" y="1810800"/>
          <a:ext cx="6905880" cy="3263400"/>
        </p:xfrm>
        <a:graphic>
          <a:graphicData uri="http://schemas.openxmlformats.org/drawingml/2006/table">
            <a:tbl>
              <a:tblPr/>
              <a:tblGrid>
                <a:gridCol w="3742560"/>
                <a:gridCol w="3163320"/>
              </a:tblGrid>
              <a:tr h="72972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00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интеграция со всеми рабочими сервисами: «1С», «БОСС-Кадровик» 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572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и т. д.;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00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внедрение системы;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00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консультации выделенного инженера при развертывании;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00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обучение всех сотрудников;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00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нормативная документация 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572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для перехода;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00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выпуск подписи типа УНЭП, использование: ПЭП «Госуслуги», «Госключ», УКЭП;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00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обновления и техподдержка по SLA;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00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персональный менеджер сопровождения, погруженный </a:t>
                      </a:r>
                      <a:br>
                        <a:rPr sz="1100"/>
                      </a:b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в ваш проект.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330120">
                        <a:lnSpc>
                          <a:spcPct val="100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</a:rPr>
                        <a:t>ежемесячные обновления платформы;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8" name="Google Shape;83;p15"/>
          <p:cNvSpPr/>
          <p:nvPr/>
        </p:nvSpPr>
        <p:spPr>
          <a:xfrm>
            <a:off x="360000" y="5505840"/>
            <a:ext cx="6839640" cy="15472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7c9f3"/>
              </a:gs>
              <a:gs pos="100000">
                <a:srgbClr val="5497e8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2700" spc="-1" strike="noStrike">
                <a:solidFill>
                  <a:srgbClr val="ffffff"/>
                </a:solidFill>
                <a:latin typeface="Montserrat Medium"/>
                <a:ea typeface="Montserrat Medium"/>
              </a:rPr>
              <a:t>Стоимость HRlink на 12 месяцев </a:t>
            </a:r>
            <a:endParaRPr b="0" lang="ru-RU" sz="27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2700" spc="-1" strike="noStrike">
                <a:solidFill>
                  <a:srgbClr val="ffffff"/>
                </a:solidFill>
                <a:latin typeface="Montserrat Medium"/>
                <a:ea typeface="Montserrat Medium"/>
              </a:rPr>
              <a:t>для вас составит</a:t>
            </a:r>
            <a:endParaRPr b="0" lang="ru-RU" sz="27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2900" spc="-1" strike="noStrike">
                <a:solidFill>
                  <a:srgbClr val="FFFFFF"/>
                </a:solidFill>
                <a:latin typeface="Montserrat SemiBold"/>
                <a:ea typeface="Montserrat SemiBold"/>
              </a:rPr>
              <a:t>677 000 ₽</a:t>
            </a:r>
            <a:endParaRPr b="0" lang="ru-RU" sz="29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9" name="Google Shape;84;p15"/>
          <p:cNvGraphicFramePr/>
          <p:nvPr/>
        </p:nvGraphicFramePr>
        <p:xfrm>
          <a:off x="360000" y="7175160"/>
          <a:ext cx="6839640" cy="3197880"/>
        </p:xfrm>
        <a:graphic>
          <a:graphicData uri="http://schemas.openxmlformats.org/drawingml/2006/table">
            <a:tbl>
              <a:tblPr/>
              <a:tblGrid>
                <a:gridCol w="1368000"/>
                <a:gridCol w="1368000"/>
                <a:gridCol w="1368000"/>
                <a:gridCol w="1368000"/>
                <a:gridCol w="1368000"/>
              </a:tblGrid>
              <a:tr h="380880"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100" spc="-1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</a:rPr>
                        <a:t>Тип лицензии</a:t>
                      </a:r>
                      <a:endParaRPr b="0" lang="ru-RU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solidFill>
                      <a:srgbClr val="68a3eb"/>
                    </a:solidFill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100" spc="-1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</a:rPr>
                        <a:t>Стоимость</a:t>
                      </a:r>
                      <a:endParaRPr b="0" lang="ru-RU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solidFill>
                      <a:srgbClr val="68a3eb"/>
                    </a:solidFill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100" spc="-1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</a:rPr>
                        <a:t>Количество лицензий</a:t>
                      </a:r>
                      <a:endParaRPr b="0" lang="ru-RU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solidFill>
                      <a:srgbClr val="68a3eb"/>
                    </a:solidFill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100" spc="-1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</a:rPr>
                        <a:t>Срок</a:t>
                      </a:r>
                      <a:endParaRPr b="0" lang="ru-RU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solidFill>
                      <a:srgbClr val="68a3eb"/>
                    </a:solidFill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100" spc="-1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</a:rPr>
                        <a:t>Сумма</a:t>
                      </a:r>
                      <a:endParaRPr b="0" lang="ru-RU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solidFill>
                      <a:srgbClr val="68a3eb"/>
                    </a:solidFill>
                  </a:tcPr>
                </a:tc>
              </a:tr>
              <a:tr h="380880">
                <a:tc>
                  <a:txBody>
                    <a:bodyPr lIns="91080" rIns="91080" tIns="91080" b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Базовая лицензия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15 000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 шт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12 месяцев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15 000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Лицензия on-premise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600 000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 шт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12 месяцев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600 000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Лицензия кадровика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15 000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2 шт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12 месяцев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30 000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tIns="91080" b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Лицензия сотрудника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32 шт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12 месяцев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32 000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</a:tr>
              <a:tr h="380880">
                <a:tc gridSpan="4">
                  <a:txBody>
                    <a:bodyPr lIns="91080" rIns="91080" tIns="91080" b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Итоговая сумма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1080" rIns="91080" tIns="91080" b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677 000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89;p16" descr=""/>
          <p:cNvPicPr/>
          <p:nvPr/>
        </p:nvPicPr>
        <p:blipFill>
          <a:blip r:embed="rId1"/>
          <a:stretch/>
        </p:blipFill>
        <p:spPr>
          <a:xfrm>
            <a:off x="-129240" y="3505320"/>
            <a:ext cx="7826760" cy="4134960"/>
          </a:xfrm>
          <a:prstGeom prst="rect">
            <a:avLst/>
          </a:prstGeom>
          <a:ln w="0">
            <a:noFill/>
          </a:ln>
        </p:spPr>
      </p:pic>
      <p:sp>
        <p:nvSpPr>
          <p:cNvPr id="61" name="Google Shape;90;p16"/>
          <p:cNvSpPr/>
          <p:nvPr/>
        </p:nvSpPr>
        <p:spPr>
          <a:xfrm>
            <a:off x="646200" y="5257080"/>
            <a:ext cx="6276240" cy="69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15000"/>
              </a:lnSpc>
              <a:tabLst>
                <a:tab algn="l" pos="0"/>
              </a:tabLst>
            </a:pPr>
            <a:r>
              <a:rPr b="0" lang="ru" sz="2900" spc="-1" strike="noStrike">
                <a:solidFill>
                  <a:srgbClr val="2c2d2e"/>
                </a:solidFill>
                <a:latin typeface="Montserrat SemiBold"/>
                <a:ea typeface="Montserrat SemiBold"/>
              </a:rPr>
              <a:t>7 причин доверять </a:t>
            </a:r>
            <a:r>
              <a:rPr b="0" lang="ru" sz="2900" spc="-1" strike="noStrike">
                <a:solidFill>
                  <a:srgbClr val="1365dd"/>
                </a:solidFill>
                <a:latin typeface="Montserrat SemiBold"/>
                <a:ea typeface="Montserrat SemiBold"/>
              </a:rPr>
              <a:t>HRlink</a:t>
            </a:r>
            <a:endParaRPr b="0" lang="ru-RU" sz="2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Google Shape;91;p16" descr=""/>
          <p:cNvPicPr/>
          <p:nvPr/>
        </p:nvPicPr>
        <p:blipFill>
          <a:blip r:embed="rId2"/>
          <a:stretch/>
        </p:blipFill>
        <p:spPr>
          <a:xfrm>
            <a:off x="366480" y="7758000"/>
            <a:ext cx="284040" cy="284040"/>
          </a:xfrm>
          <a:prstGeom prst="rect">
            <a:avLst/>
          </a:prstGeom>
          <a:ln w="0">
            <a:noFill/>
          </a:ln>
        </p:spPr>
      </p:pic>
      <p:sp>
        <p:nvSpPr>
          <p:cNvPr id="63" name="Google Shape;92;p16"/>
          <p:cNvSpPr/>
          <p:nvPr/>
        </p:nvSpPr>
        <p:spPr>
          <a:xfrm>
            <a:off x="710280" y="7672680"/>
            <a:ext cx="22708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hh.ru — стратегический партнер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" name="Google Shape;93;p16" descr=""/>
          <p:cNvPicPr/>
          <p:nvPr/>
        </p:nvPicPr>
        <p:blipFill>
          <a:blip r:embed="rId3"/>
          <a:stretch/>
        </p:blipFill>
        <p:spPr>
          <a:xfrm>
            <a:off x="4066200" y="7758000"/>
            <a:ext cx="284040" cy="284040"/>
          </a:xfrm>
          <a:prstGeom prst="rect">
            <a:avLst/>
          </a:prstGeom>
          <a:ln w="0">
            <a:noFill/>
          </a:ln>
        </p:spPr>
      </p:pic>
      <p:sp>
        <p:nvSpPr>
          <p:cNvPr id="65" name="Google Shape;94;p16"/>
          <p:cNvSpPr/>
          <p:nvPr/>
        </p:nvSpPr>
        <p:spPr>
          <a:xfrm>
            <a:off x="4410000" y="7710840"/>
            <a:ext cx="264384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дважды КЭДО №1 по версии РБК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" name="Google Shape;95;p16" descr=""/>
          <p:cNvPicPr/>
          <p:nvPr/>
        </p:nvPicPr>
        <p:blipFill>
          <a:blip r:embed="rId4"/>
          <a:stretch/>
        </p:blipFill>
        <p:spPr>
          <a:xfrm>
            <a:off x="373320" y="8329320"/>
            <a:ext cx="284040" cy="284040"/>
          </a:xfrm>
          <a:prstGeom prst="rect">
            <a:avLst/>
          </a:prstGeom>
          <a:ln w="0">
            <a:noFill/>
          </a:ln>
        </p:spPr>
      </p:pic>
      <p:sp>
        <p:nvSpPr>
          <p:cNvPr id="67" name="Google Shape;96;p16"/>
          <p:cNvSpPr/>
          <p:nvPr/>
        </p:nvSpPr>
        <p:spPr>
          <a:xfrm>
            <a:off x="717120" y="8244000"/>
            <a:ext cx="2738520" cy="6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98% пользователей в восторге </a:t>
            </a:r>
            <a:br>
              <a:rPr sz="1100"/>
            </a:b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от нашего подхода к внедрению </a:t>
            </a:r>
            <a:br>
              <a:rPr sz="1100"/>
            </a:b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и сопровождению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" name="Google Shape;97;p16" descr=""/>
          <p:cNvPicPr/>
          <p:nvPr/>
        </p:nvPicPr>
        <p:blipFill>
          <a:blip r:embed="rId5"/>
          <a:stretch/>
        </p:blipFill>
        <p:spPr>
          <a:xfrm>
            <a:off x="4073040" y="8481960"/>
            <a:ext cx="284040" cy="284040"/>
          </a:xfrm>
          <a:prstGeom prst="rect">
            <a:avLst/>
          </a:prstGeom>
          <a:ln w="0">
            <a:noFill/>
          </a:ln>
        </p:spPr>
      </p:pic>
      <p:sp>
        <p:nvSpPr>
          <p:cNvPr id="69" name="Google Shape;98;p16"/>
          <p:cNvSpPr/>
          <p:nvPr/>
        </p:nvSpPr>
        <p:spPr>
          <a:xfrm>
            <a:off x="4416840" y="8396640"/>
            <a:ext cx="264384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HRlink на 100% соответствует требованиям законодательства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" name="Google Shape;99;p16" descr=""/>
          <p:cNvPicPr/>
          <p:nvPr/>
        </p:nvPicPr>
        <p:blipFill>
          <a:blip r:embed="rId6"/>
          <a:stretch/>
        </p:blipFill>
        <p:spPr>
          <a:xfrm>
            <a:off x="366480" y="9063360"/>
            <a:ext cx="284040" cy="284040"/>
          </a:xfrm>
          <a:prstGeom prst="rect">
            <a:avLst/>
          </a:prstGeom>
          <a:ln w="0">
            <a:noFill/>
          </a:ln>
        </p:spPr>
      </p:pic>
      <p:sp>
        <p:nvSpPr>
          <p:cNvPr id="71" name="Google Shape;100;p16"/>
          <p:cNvSpPr/>
          <p:nvPr/>
        </p:nvSpPr>
        <p:spPr>
          <a:xfrm>
            <a:off x="710280" y="8978040"/>
            <a:ext cx="308772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более 6 400 клиентов 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и 1 500 000 активных пользователей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Google Shape;101;p16" descr=""/>
          <p:cNvPicPr/>
          <p:nvPr/>
        </p:nvPicPr>
        <p:blipFill>
          <a:blip r:embed="rId7"/>
          <a:stretch/>
        </p:blipFill>
        <p:spPr>
          <a:xfrm>
            <a:off x="4066200" y="9291960"/>
            <a:ext cx="284040" cy="284040"/>
          </a:xfrm>
          <a:prstGeom prst="rect">
            <a:avLst/>
          </a:prstGeom>
          <a:ln w="0">
            <a:noFill/>
          </a:ln>
        </p:spPr>
      </p:pic>
      <p:sp>
        <p:nvSpPr>
          <p:cNvPr id="73" name="Google Shape;102;p16"/>
          <p:cNvSpPr/>
          <p:nvPr/>
        </p:nvSpPr>
        <p:spPr>
          <a:xfrm>
            <a:off x="4410000" y="9206640"/>
            <a:ext cx="264384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каждый 20-й россиянин пользуется КЭДО HRlink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Google Shape;103;p16" descr=""/>
          <p:cNvPicPr/>
          <p:nvPr/>
        </p:nvPicPr>
        <p:blipFill>
          <a:blip r:embed="rId8"/>
          <a:stretch/>
        </p:blipFill>
        <p:spPr>
          <a:xfrm>
            <a:off x="366480" y="9640440"/>
            <a:ext cx="284040" cy="284040"/>
          </a:xfrm>
          <a:prstGeom prst="rect">
            <a:avLst/>
          </a:prstGeom>
          <a:ln w="0">
            <a:noFill/>
          </a:ln>
        </p:spPr>
      </p:pic>
      <p:sp>
        <p:nvSpPr>
          <p:cNvPr id="75" name="Google Shape;104;p16"/>
          <p:cNvSpPr/>
          <p:nvPr/>
        </p:nvSpPr>
        <p:spPr>
          <a:xfrm>
            <a:off x="710280" y="9555120"/>
            <a:ext cx="3087720" cy="6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каждую минуту в HRlink подписывают до 300 документов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Google Shape;105;p16"/>
          <p:cNvSpPr/>
          <p:nvPr/>
        </p:nvSpPr>
        <p:spPr>
          <a:xfrm>
            <a:off x="360000" y="329760"/>
            <a:ext cx="6839640" cy="13525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7c9f3"/>
              </a:gs>
              <a:gs pos="100000">
                <a:srgbClr val="5497e8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2900" spc="-1" strike="noStrike">
                <a:solidFill>
                  <a:srgbClr val="ffffff"/>
                </a:solidFill>
                <a:latin typeface="Montserrat SemiBold"/>
                <a:ea typeface="Montserrat SemiBold"/>
              </a:rPr>
              <a:t>Что важно знать</a:t>
            </a:r>
            <a:endParaRPr b="0" lang="ru-RU" sz="2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Google Shape;106;p16" descr=""/>
          <p:cNvPicPr/>
          <p:nvPr/>
        </p:nvPicPr>
        <p:blipFill>
          <a:blip r:embed="rId9"/>
          <a:stretch/>
        </p:blipFill>
        <p:spPr>
          <a:xfrm>
            <a:off x="1057320" y="2004840"/>
            <a:ext cx="613440" cy="613440"/>
          </a:xfrm>
          <a:prstGeom prst="rect">
            <a:avLst/>
          </a:prstGeom>
          <a:ln w="0">
            <a:noFill/>
          </a:ln>
        </p:spPr>
      </p:pic>
      <p:pic>
        <p:nvPicPr>
          <p:cNvPr id="78" name="Google Shape;107;p16" descr=""/>
          <p:cNvPicPr/>
          <p:nvPr/>
        </p:nvPicPr>
        <p:blipFill>
          <a:blip r:embed="rId10"/>
          <a:stretch/>
        </p:blipFill>
        <p:spPr>
          <a:xfrm>
            <a:off x="5753160" y="2004840"/>
            <a:ext cx="613440" cy="613440"/>
          </a:xfrm>
          <a:prstGeom prst="rect">
            <a:avLst/>
          </a:prstGeom>
          <a:ln w="0">
            <a:noFill/>
          </a:ln>
        </p:spPr>
      </p:pic>
      <p:sp>
        <p:nvSpPr>
          <p:cNvPr id="79" name="Google Shape;108;p16"/>
          <p:cNvSpPr/>
          <p:nvPr/>
        </p:nvSpPr>
        <p:spPr>
          <a:xfrm>
            <a:off x="228240" y="2675160"/>
            <a:ext cx="227088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Большую часть задач </a:t>
            </a:r>
            <a:br>
              <a:rPr sz="1100"/>
            </a:b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по внедрению берет </a:t>
            </a:r>
            <a:br>
              <a:rPr sz="1100"/>
            </a:b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на себя наша команда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Google Shape;109;p16"/>
          <p:cNvSpPr/>
          <p:nvPr/>
        </p:nvSpPr>
        <p:spPr>
          <a:xfrm>
            <a:off x="4830480" y="2678040"/>
            <a:ext cx="245880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141416"/>
                </a:solidFill>
                <a:latin typeface="Montserrat Medium"/>
                <a:ea typeface="Montserrat Medium"/>
              </a:rPr>
              <a:t>Выделим персонального менеджера, погруженного </a:t>
            </a:r>
            <a:br>
              <a:rPr sz="1100"/>
            </a:br>
            <a:r>
              <a:rPr b="0" lang="ru" sz="1100" spc="-1" strike="noStrike">
                <a:solidFill>
                  <a:srgbClr val="141416"/>
                </a:solidFill>
                <a:latin typeface="Montserrat Medium"/>
                <a:ea typeface="Montserrat Medium"/>
              </a:rPr>
              <a:t>в ваш проект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1" name="Google Shape;110;p16"/>
          <p:cNvGrpSpPr/>
          <p:nvPr/>
        </p:nvGrpSpPr>
        <p:grpSpPr>
          <a:xfrm>
            <a:off x="2695320" y="2006280"/>
            <a:ext cx="2169000" cy="1466280"/>
            <a:chOff x="2695320" y="2006280"/>
            <a:chExt cx="2169000" cy="1466280"/>
          </a:xfrm>
        </p:grpSpPr>
        <p:pic>
          <p:nvPicPr>
            <p:cNvPr id="82" name="Google Shape;111;p16" descr=""/>
            <p:cNvPicPr/>
            <p:nvPr/>
          </p:nvPicPr>
          <p:blipFill>
            <a:blip r:embed="rId11"/>
            <a:stretch/>
          </p:blipFill>
          <p:spPr>
            <a:xfrm>
              <a:off x="3473280" y="2006280"/>
              <a:ext cx="613440" cy="6134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3" name="Google Shape;112;p16"/>
            <p:cNvSpPr/>
            <p:nvPr/>
          </p:nvSpPr>
          <p:spPr>
            <a:xfrm>
              <a:off x="2695320" y="2678040"/>
              <a:ext cx="2169000" cy="79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ru" sz="1100" spc="-1" strike="noStrike">
                  <a:solidFill>
                    <a:srgbClr val="2c2d2e"/>
                  </a:solidFill>
                  <a:latin typeface="Montserrat Medium"/>
                  <a:ea typeface="Montserrat Medium"/>
                </a:rPr>
                <a:t>Мы подготовим и обучим  ваших сотрудников</a:t>
              </a:r>
              <a:endParaRPr b="0" lang="ru-RU" sz="1100" spc="-1" strike="noStrike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100" spc="-1" strike="noStrike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ru-RU" sz="1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117;p17"/>
          <p:cNvSpPr/>
          <p:nvPr/>
        </p:nvSpPr>
        <p:spPr>
          <a:xfrm>
            <a:off x="360000" y="329760"/>
            <a:ext cx="6839640" cy="13525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7c9f3"/>
              </a:gs>
              <a:gs pos="100000">
                <a:srgbClr val="5497e8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2900" spc="-1" strike="noStrike">
                <a:solidFill>
                  <a:srgbClr val="ffffff"/>
                </a:solidFill>
                <a:latin typeface="Montserrat SemiBold"/>
                <a:ea typeface="Montserrat SemiBold"/>
              </a:rPr>
              <a:t>Уже с нами</a:t>
            </a:r>
            <a:endParaRPr b="0" lang="ru-RU" sz="2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Google Shape;118;p17" descr=""/>
          <p:cNvPicPr/>
          <p:nvPr/>
        </p:nvPicPr>
        <p:blipFill>
          <a:blip r:embed="rId1"/>
          <a:srcRect l="0" t="836" r="0" b="-4219"/>
          <a:stretch/>
        </p:blipFill>
        <p:spPr>
          <a:xfrm>
            <a:off x="360000" y="2081880"/>
            <a:ext cx="6839640" cy="2106360"/>
          </a:xfrm>
          <a:prstGeom prst="rect">
            <a:avLst/>
          </a:prstGeom>
          <a:ln w="0">
            <a:noFill/>
          </a:ln>
        </p:spPr>
      </p:pic>
      <p:pic>
        <p:nvPicPr>
          <p:cNvPr id="86" name="Google Shape;119;p17" descr=""/>
          <p:cNvPicPr/>
          <p:nvPr/>
        </p:nvPicPr>
        <p:blipFill>
          <a:blip r:embed="rId2"/>
          <a:srcRect l="0" t="28" r="0" b="28"/>
          <a:stretch/>
        </p:blipFill>
        <p:spPr>
          <a:xfrm>
            <a:off x="1081080" y="4776120"/>
            <a:ext cx="2495160" cy="3142800"/>
          </a:xfrm>
          <a:prstGeom prst="rect">
            <a:avLst/>
          </a:prstGeom>
          <a:ln w="0">
            <a:noFill/>
          </a:ln>
        </p:spPr>
      </p:pic>
      <p:pic>
        <p:nvPicPr>
          <p:cNvPr id="87" name="Google Shape;120;p17" descr=""/>
          <p:cNvPicPr/>
          <p:nvPr/>
        </p:nvPicPr>
        <p:blipFill>
          <a:blip r:embed="rId3"/>
          <a:stretch/>
        </p:blipFill>
        <p:spPr>
          <a:xfrm>
            <a:off x="3984480" y="4770000"/>
            <a:ext cx="2495160" cy="3152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/>
  <dcterms:modified xsi:type="dcterms:W3CDTF">2025-09-24T15:56:51Z</dcterms:modified>
  <cp:revision>2</cp:revision>
  <dc:subject/>
  <dc:title/>
</cp:coreProperties>
</file>