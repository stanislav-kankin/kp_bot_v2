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_rels/presentation.xml.rels" ContentType="application/vnd.openxmlformats-package.relationships+xml"/>
  <Override PartName="/ppt/media/image13.png" ContentType="image/png"/>
  <Override PartName="/ppt/media/image4.png" ContentType="image/png"/>
  <Override PartName="/ppt/media/image14.png" ContentType="image/png"/>
  <Override PartName="/ppt/media/image5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8.png" ContentType="image/png"/>
  <Override PartName="/ppt/media/image12.png" ContentType="image/png"/>
  <Override PartName="/ppt/media/image3.png" ContentType="image/png"/>
  <Override PartName="/ppt/media/image9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</p:sldIdLst>
  <p:sldSz cx="7559675" cy="104394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3760" cy="41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ubTitle"/>
          </p:nvPr>
        </p:nvSpPr>
        <p:spPr>
          <a:xfrm>
            <a:off x="377640" y="2442600"/>
            <a:ext cx="6803280" cy="605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126F7131-A6AB-401C-899E-7ED11767815A}" type="slidenum">
              <a:t>&lt;#&gt;</a:t>
            </a:fld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D22B98-62FE-481C-9B0E-7F7A0092AD87}" type="slidenum">
              <a:t>&lt;#&gt;</a:t>
            </a:fld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40EB703-3AD4-4588-B3E3-233EC6F30094}" type="slidenum">
              <a:t>&lt;#&gt;</a:t>
            </a:fld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"/>
          </p:nvPr>
        </p:nvSpPr>
        <p:spPr/>
        <p:txBody>
          <a:bodyPr/>
          <a:p>
            <a:fld id="{B5274FBD-484F-4DAE-9D60-C40DC561AAD5}" type="slidenum">
              <a:t>&lt;#&gt;</a:t>
            </a:fld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3760" cy="41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377640" y="2442600"/>
            <a:ext cx="6803280" cy="605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0EE9A34-1480-42C5-9D1B-E52A2A3EEDB6}" type="slidenum">
              <a:t>&lt;#&gt;</a:t>
            </a:fld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3760" cy="41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/>
          </p:nvPr>
        </p:nvSpPr>
        <p:spPr>
          <a:xfrm>
            <a:off x="377640" y="2442600"/>
            <a:ext cx="3319920" cy="605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/>
          </p:nvPr>
        </p:nvSpPr>
        <p:spPr>
          <a:xfrm>
            <a:off x="3863880" y="2442600"/>
            <a:ext cx="3319920" cy="605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73EACCD-4BE8-4FF3-919C-966C43650127}" type="slidenum">
              <a:t>&lt;#&gt;</a:t>
            </a:fld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3760" cy="41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7"/>
          </p:nvPr>
        </p:nvSpPr>
        <p:spPr/>
        <p:txBody>
          <a:bodyPr/>
          <a:p>
            <a:fld id="{0D621380-9F6D-45A9-8733-DC7197B2E0AE}" type="slidenum">
              <a:t>&lt;#&gt;</a:t>
            </a:fld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F4B567A-1306-4D01-9B03-744FF3F19ACA}" type="slidenum">
              <a:t>&lt;#&gt;</a:t>
            </a:fld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DAD84C3-5E93-4C97-A2BC-32834059B184}" type="slidenum">
              <a:t>&lt;#&gt;</a:t>
            </a:fld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0"/>
          </p:nvPr>
        </p:nvSpPr>
        <p:spPr/>
        <p:txBody>
          <a:bodyPr/>
          <a:p>
            <a:fld id="{66EE7D16-1A21-492B-97A6-04BF01571EAB}" type="slidenum">
              <a:t>&lt;#&gt;</a:t>
            </a:fld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9B479BE7-6246-47F0-8C26-0D5B7C0527C0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3760" cy="41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1"/>
          </p:nvPr>
        </p:nvSpPr>
        <p:spPr>
          <a:xfrm>
            <a:off x="7004880" y="9465120"/>
            <a:ext cx="45288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ABE97D-BD0C-4019-9422-45B7CCF0C9A3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body"/>
          </p:nvPr>
        </p:nvSpPr>
        <p:spPr>
          <a:xfrm>
            <a:off x="377640" y="2442600"/>
            <a:ext cx="6803280" cy="605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sldNum" idx="2"/>
          </p:nvPr>
        </p:nvSpPr>
        <p:spPr>
          <a:xfrm>
            <a:off x="7004880" y="9465120"/>
            <a:ext cx="45288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3C4909C-8693-4F0E-B48B-A23BB05F1993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Num" idx="3"/>
          </p:nvPr>
        </p:nvSpPr>
        <p:spPr>
          <a:xfrm>
            <a:off x="7004880" y="9465120"/>
            <a:ext cx="45288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A10B5C0-45B3-4241-813A-CE5429BA3BEE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sldNum" idx="4"/>
          </p:nvPr>
        </p:nvSpPr>
        <p:spPr>
          <a:xfrm>
            <a:off x="7004880" y="9465120"/>
            <a:ext cx="45288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488CB80-7A12-463A-B13A-74C06B9489B3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3760" cy="41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378000" y="2442960"/>
            <a:ext cx="6803280" cy="605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5"/>
          </p:nvPr>
        </p:nvSpPr>
        <p:spPr>
          <a:xfrm>
            <a:off x="7004880" y="9465120"/>
            <a:ext cx="45288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2E1BC9-1B66-402D-86D6-FB72AD02779F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3760" cy="41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378000" y="2442960"/>
            <a:ext cx="3319560" cy="605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3864240" y="2442960"/>
            <a:ext cx="3319560" cy="605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7222" lnSpcReduction="2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Второй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Пятый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Шестой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Седьмой уровень структуры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sldNum" idx="6"/>
          </p:nvPr>
        </p:nvSpPr>
        <p:spPr>
          <a:xfrm>
            <a:off x="7004880" y="9465120"/>
            <a:ext cx="45288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2DB66F-8058-4C39-9608-BF245846B677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257760" y="1511280"/>
            <a:ext cx="7043760" cy="41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ldNum" idx="7"/>
          </p:nvPr>
        </p:nvSpPr>
        <p:spPr>
          <a:xfrm>
            <a:off x="7004880" y="9465120"/>
            <a:ext cx="45288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EF45625-4C77-4659-93E4-5A608836D871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sldNum" idx="8"/>
          </p:nvPr>
        </p:nvSpPr>
        <p:spPr>
          <a:xfrm>
            <a:off x="7004880" y="9465120"/>
            <a:ext cx="45288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1ACBA6-F9A0-45E8-9660-0C17E3B1287C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sldNum" idx="9"/>
          </p:nvPr>
        </p:nvSpPr>
        <p:spPr>
          <a:xfrm>
            <a:off x="7004880" y="9465120"/>
            <a:ext cx="45288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5FF3B83-6383-40EC-BFA4-0BB894E1FA6A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36;p9"/>
          <p:cNvSpPr/>
          <p:nvPr/>
        </p:nvSpPr>
        <p:spPr>
          <a:xfrm>
            <a:off x="3780000" y="-360"/>
            <a:ext cx="3779280" cy="1043928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sldNum" idx="10"/>
          </p:nvPr>
        </p:nvSpPr>
        <p:spPr>
          <a:xfrm>
            <a:off x="7004880" y="9465120"/>
            <a:ext cx="45288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94A39A-5CD8-4F0E-B0C8-8DE1F32FFC27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sldNum" idx="11"/>
          </p:nvPr>
        </p:nvSpPr>
        <p:spPr>
          <a:xfrm>
            <a:off x="7004880" y="9465120"/>
            <a:ext cx="452880" cy="79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" sz="1000" spc="-1" strike="noStrike">
                <a:solidFill>
                  <a:schemeClr val="dk2"/>
                </a:solidFill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CF5831-C360-4855-AE12-38A0793CA895}" type="slidenum">
              <a:rPr b="0" lang="ru" sz="1000" spc="-1" strike="noStrike">
                <a:solidFill>
                  <a:schemeClr val="dk2"/>
                </a:solidFill>
                <a:latin typeface="Arial"/>
                <a:ea typeface="Arial"/>
              </a:rPr>
              <a:t>&lt;номер&gt;</a:t>
            </a:fld>
            <a:endParaRPr b="0" lang="ru-RU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9.png"/><Relationship Id="rId4" Type="http://schemas.openxmlformats.org/officeDocument/2006/relationships/image" Target="../media/image9.png"/><Relationship Id="rId5" Type="http://schemas.openxmlformats.org/officeDocument/2006/relationships/image" Target="../media/image9.png"/><Relationship Id="rId6" Type="http://schemas.openxmlformats.org/officeDocument/2006/relationships/image" Target="../media/image9.png"/><Relationship Id="rId7" Type="http://schemas.openxmlformats.org/officeDocument/2006/relationships/image" Target="../media/image9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54;p13"/>
          <p:cNvSpPr/>
          <p:nvPr/>
        </p:nvSpPr>
        <p:spPr>
          <a:xfrm>
            <a:off x="360000" y="329760"/>
            <a:ext cx="6839280" cy="249264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90000"/>
              </a:lnSpc>
              <a:tabLst>
                <a:tab algn="l" pos="0"/>
              </a:tabLst>
            </a:pPr>
            <a:r>
              <a:rPr b="0" lang="ru" sz="2600" spc="-1" strike="noStrike">
                <a:solidFill>
                  <a:srgbClr val="ffffff"/>
                </a:solidFill>
                <a:latin typeface="Montserrat Medium"/>
                <a:ea typeface="Montserrat Medium"/>
              </a:rPr>
              <a:t>Коммерческое предложение 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tabLst>
                <a:tab algn="l" pos="0"/>
              </a:tabLst>
            </a:pPr>
            <a:r>
              <a:rPr b="0" lang="ru" sz="2600" spc="-1" strike="noStrike">
                <a:solidFill>
                  <a:srgbClr val="ffffff"/>
                </a:solidFill>
                <a:latin typeface="Montserrat Medium"/>
                <a:ea typeface="Montserrat Medium"/>
              </a:rPr>
              <a:t>HRlink для компании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90000"/>
              </a:lnSpc>
              <a:tabLst>
                <a:tab algn="l" pos="0"/>
              </a:tabLst>
            </a:pPr>
            <a:r>
              <a:rPr b="1" lang="ru" sz="2600" spc="-1" strike="noStrike">
                <a:solidFill>
                  <a:srgbClr val="ffffff"/>
                </a:solidFill>
                <a:latin typeface="Montserrat"/>
                <a:ea typeface="Montserrat"/>
              </a:rPr>
              <a:t>Название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Google Shape;55;p13"/>
          <p:cNvSpPr/>
          <p:nvPr/>
        </p:nvSpPr>
        <p:spPr>
          <a:xfrm>
            <a:off x="284760" y="3332520"/>
            <a:ext cx="683928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ru" sz="1200" spc="-1" strike="noStrike">
                <a:solidFill>
                  <a:srgbClr val="2c2d2e"/>
                </a:solidFill>
                <a:latin typeface="Montserrat"/>
                <a:ea typeface="Montserrat"/>
              </a:rPr>
              <a:t>КЭДО HRlink — это платформа №1</a:t>
            </a:r>
            <a:r>
              <a:rPr b="0" lang="ru" sz="12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 для автоматизации кадрового документооборота  по версии РБК в 2025 году. Мы помогаем подписывать кадровые документы онлайн за 1 минуту.</a:t>
            </a:r>
            <a:endParaRPr b="0" lang="ru-RU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Google Shape;56;p13"/>
          <p:cNvSpPr/>
          <p:nvPr/>
        </p:nvSpPr>
        <p:spPr>
          <a:xfrm>
            <a:off x="264600" y="4442400"/>
            <a:ext cx="674100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800" spc="-1" strike="noStrike">
                <a:solidFill>
                  <a:srgbClr val="2c2d2e"/>
                </a:solidFill>
                <a:latin typeface="Montserrat"/>
                <a:ea typeface="Montserrat"/>
              </a:rPr>
              <a:t>КЭДО HRlink дает вам очевидные преимущества: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" name="Google Shape;57;p13" descr=""/>
          <p:cNvPicPr/>
          <p:nvPr/>
        </p:nvPicPr>
        <p:blipFill>
          <a:blip r:embed="rId1"/>
          <a:stretch/>
        </p:blipFill>
        <p:spPr>
          <a:xfrm>
            <a:off x="360000" y="5018040"/>
            <a:ext cx="613080" cy="613080"/>
          </a:xfrm>
          <a:prstGeom prst="rect">
            <a:avLst/>
          </a:prstGeom>
          <a:ln w="0">
            <a:noFill/>
          </a:ln>
        </p:spPr>
      </p:pic>
      <p:pic>
        <p:nvPicPr>
          <p:cNvPr id="32" name="Google Shape;58;p13" descr=""/>
          <p:cNvPicPr/>
          <p:nvPr/>
        </p:nvPicPr>
        <p:blipFill>
          <a:blip r:embed="rId2"/>
          <a:stretch/>
        </p:blipFill>
        <p:spPr>
          <a:xfrm>
            <a:off x="360000" y="5796720"/>
            <a:ext cx="613080" cy="613080"/>
          </a:xfrm>
          <a:prstGeom prst="rect">
            <a:avLst/>
          </a:prstGeom>
          <a:ln w="0">
            <a:noFill/>
          </a:ln>
        </p:spPr>
      </p:pic>
      <p:pic>
        <p:nvPicPr>
          <p:cNvPr id="33" name="Google Shape;59;p13" descr=""/>
          <p:cNvPicPr/>
          <p:nvPr/>
        </p:nvPicPr>
        <p:blipFill>
          <a:blip r:embed="rId3"/>
          <a:stretch/>
        </p:blipFill>
        <p:spPr>
          <a:xfrm>
            <a:off x="3825000" y="5018040"/>
            <a:ext cx="613080" cy="613080"/>
          </a:xfrm>
          <a:prstGeom prst="rect">
            <a:avLst/>
          </a:prstGeom>
          <a:ln w="0">
            <a:noFill/>
          </a:ln>
        </p:spPr>
      </p:pic>
      <p:pic>
        <p:nvPicPr>
          <p:cNvPr id="34" name="Google Shape;60;p13" descr=""/>
          <p:cNvPicPr/>
          <p:nvPr/>
        </p:nvPicPr>
        <p:blipFill>
          <a:blip r:embed="rId4"/>
          <a:stretch/>
        </p:blipFill>
        <p:spPr>
          <a:xfrm>
            <a:off x="3825000" y="5838120"/>
            <a:ext cx="613080" cy="613080"/>
          </a:xfrm>
          <a:prstGeom prst="rect">
            <a:avLst/>
          </a:prstGeom>
          <a:ln w="0">
            <a:noFill/>
          </a:ln>
        </p:spPr>
      </p:pic>
      <p:sp>
        <p:nvSpPr>
          <p:cNvPr id="35" name="Google Shape;61;p13"/>
          <p:cNvSpPr/>
          <p:nvPr/>
        </p:nvSpPr>
        <p:spPr>
          <a:xfrm>
            <a:off x="1111320" y="5015160"/>
            <a:ext cx="174564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подписание 75% документов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в первый день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Google Shape;62;p13"/>
          <p:cNvSpPr/>
          <p:nvPr/>
        </p:nvSpPr>
        <p:spPr>
          <a:xfrm>
            <a:off x="1111320" y="5796720"/>
            <a:ext cx="174564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риск штрафов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в связи с утерей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документов — 0%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Google Shape;63;p13"/>
          <p:cNvSpPr/>
          <p:nvPr/>
        </p:nvSpPr>
        <p:spPr>
          <a:xfrm>
            <a:off x="4597560" y="5017320"/>
            <a:ext cx="201636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экономия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на документообороте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до 10 раз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Google Shape;64;p13"/>
          <p:cNvSpPr/>
          <p:nvPr/>
        </p:nvSpPr>
        <p:spPr>
          <a:xfrm>
            <a:off x="4597560" y="5796720"/>
            <a:ext cx="233388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прозрачные процессы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КДП с аналитикой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по документам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Google Shape;65;p13"/>
          <p:cNvSpPr/>
          <p:nvPr/>
        </p:nvSpPr>
        <p:spPr>
          <a:xfrm>
            <a:off x="317520" y="6846840"/>
            <a:ext cx="6741000" cy="76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ru" sz="1800" spc="-1" strike="noStrike">
                <a:solidFill>
                  <a:srgbClr val="2c2d2e"/>
                </a:solidFill>
                <a:latin typeface="Montserrat"/>
                <a:ea typeface="Montserrat"/>
              </a:rPr>
              <a:t>Более 5 лет создаем решения, которые формируют рынок КЭДО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" name="Google Shape;66;p13" descr=""/>
          <p:cNvPicPr/>
          <p:nvPr/>
        </p:nvPicPr>
        <p:blipFill>
          <a:blip r:embed="rId5"/>
          <a:stretch/>
        </p:blipFill>
        <p:spPr>
          <a:xfrm>
            <a:off x="360000" y="7640640"/>
            <a:ext cx="6796800" cy="1629000"/>
          </a:xfrm>
          <a:prstGeom prst="rect">
            <a:avLst/>
          </a:prstGeom>
          <a:ln w="0">
            <a:noFill/>
          </a:ln>
        </p:spPr>
      </p:pic>
      <p:pic>
        <p:nvPicPr>
          <p:cNvPr id="41" name="Google Shape;67;p13" descr=""/>
          <p:cNvPicPr/>
          <p:nvPr/>
        </p:nvPicPr>
        <p:blipFill>
          <a:blip r:embed="rId6"/>
          <a:stretch/>
        </p:blipFill>
        <p:spPr>
          <a:xfrm rot="886200">
            <a:off x="5356800" y="911880"/>
            <a:ext cx="2313720" cy="2317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72;p14"/>
          <p:cNvSpPr/>
          <p:nvPr/>
        </p:nvSpPr>
        <p:spPr>
          <a:xfrm>
            <a:off x="360000" y="329760"/>
            <a:ext cx="6839280" cy="13521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90000"/>
              </a:lnSpc>
              <a:tabLst>
                <a:tab algn="l" pos="0"/>
              </a:tabLst>
            </a:pPr>
            <a:r>
              <a:rPr b="1" lang="ru" sz="2600" spc="-1" strike="noStrike">
                <a:solidFill>
                  <a:srgbClr val="ffffff"/>
                </a:solidFill>
                <a:latin typeface="Montserrat"/>
                <a:ea typeface="Montserrat"/>
              </a:rPr>
              <a:t>В сервисе уже есть</a:t>
            </a:r>
            <a:endParaRPr b="0" lang="ru-RU" sz="26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3" name="Google Shape;73;p14"/>
          <p:cNvGraphicFramePr/>
          <p:nvPr/>
        </p:nvGraphicFramePr>
        <p:xfrm>
          <a:off x="203040" y="1963080"/>
          <a:ext cx="6905520" cy="4214880"/>
        </p:xfrm>
        <a:graphic>
          <a:graphicData uri="http://schemas.openxmlformats.org/drawingml/2006/table">
            <a:tbl>
              <a:tblPr/>
              <a:tblGrid>
                <a:gridCol w="3742560"/>
                <a:gridCol w="3163320"/>
              </a:tblGrid>
              <a:tr h="729720"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облачное размещение и хранение </a:t>
                      </a:r>
                      <a:br>
                        <a:rPr sz="1100"/>
                      </a:b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на наших серверах или on-premise </a:t>
                      </a:r>
                      <a:br>
                        <a:rPr sz="1100"/>
                      </a:b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на ваших собственных серверах;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бесшовная загрузка документов 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457200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и данных о сотрудниках;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мобильное приложение, 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457200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веб- и мобильная версии;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все виды электронных подписей;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модули: графика отпусков, ЛНА, выпуска МЧД, отправки расчетных листков;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массовая отправка документов;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конструктор гибких маршрутов подписания документов </a:t>
                      </a:r>
                      <a:br>
                        <a:rPr sz="1100"/>
                      </a:b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и заявлений (безлимит);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массовое подписание УКЭП;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доступ к корпоративным сервисам компании через SSO — единое окно входа;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бесплатные уведомления (email, Telegram, push-уведомления);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работа со всеми типами персонала: сотрудники в штате, по договору ГПХ, самозанятые, ИП;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аналитика по документам;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15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все категории совместителей;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00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удобный электронный архив.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4" name="Google Shape;74;p14"/>
          <p:cNvSpPr/>
          <p:nvPr/>
        </p:nvSpPr>
        <p:spPr>
          <a:xfrm>
            <a:off x="360000" y="7185600"/>
            <a:ext cx="6839280" cy="24843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endParaRPr b="0" lang="ru-RU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Google Shape;75;p14"/>
          <p:cNvSpPr/>
          <p:nvPr/>
        </p:nvSpPr>
        <p:spPr>
          <a:xfrm>
            <a:off x="736920" y="7995960"/>
            <a:ext cx="3348720" cy="86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ru" sz="2000" spc="-1" strike="noStrike">
                <a:solidFill>
                  <a:srgbClr val="ffffff"/>
                </a:solidFill>
                <a:latin typeface="Montserrat"/>
                <a:ea typeface="Montserrat"/>
              </a:rPr>
              <a:t>Подробнее обо всех 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15000"/>
              </a:lnSpc>
              <a:tabLst>
                <a:tab algn="l" pos="0"/>
              </a:tabLst>
            </a:pPr>
            <a:r>
              <a:rPr b="1" lang="ru" sz="2000" spc="-1" strike="noStrike">
                <a:solidFill>
                  <a:srgbClr val="ffffff"/>
                </a:solidFill>
                <a:latin typeface="Montserrat"/>
                <a:ea typeface="Montserrat"/>
              </a:rPr>
              <a:t>возможностях сервиса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6" name="Google Shape;76;p14" descr=""/>
          <p:cNvPicPr/>
          <p:nvPr/>
        </p:nvPicPr>
        <p:blipFill>
          <a:blip r:embed="rId1"/>
          <a:stretch/>
        </p:blipFill>
        <p:spPr>
          <a:xfrm>
            <a:off x="4898880" y="7503480"/>
            <a:ext cx="1848600" cy="1848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81;p15"/>
          <p:cNvSpPr/>
          <p:nvPr/>
        </p:nvSpPr>
        <p:spPr>
          <a:xfrm>
            <a:off x="360000" y="329760"/>
            <a:ext cx="6839280" cy="13521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2900" spc="-1" strike="noStrike">
                <a:solidFill>
                  <a:srgbClr val="ffffff"/>
                </a:solidFill>
                <a:latin typeface="Montserrat SemiBold"/>
                <a:ea typeface="Montserrat SemiBold"/>
              </a:rPr>
              <a:t>Также в стоимость входит</a:t>
            </a:r>
            <a:endParaRPr b="0" lang="ru-RU" sz="2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48" name="Google Shape;82;p15"/>
          <p:cNvGraphicFramePr/>
          <p:nvPr/>
        </p:nvGraphicFramePr>
        <p:xfrm>
          <a:off x="203040" y="1810800"/>
          <a:ext cx="6905520" cy="2909520"/>
        </p:xfrm>
        <a:graphic>
          <a:graphicData uri="http://schemas.openxmlformats.org/drawingml/2006/table">
            <a:tbl>
              <a:tblPr/>
              <a:tblGrid>
                <a:gridCol w="3742560"/>
                <a:gridCol w="3163320"/>
              </a:tblGrid>
              <a:tr h="729720"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00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интеграция со всеми рабочими сервисами: «1С», «БОСС-Кадровик» 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4572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и т. д.;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00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внедрение системы;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00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консультации выделенного инженера при развертывании;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00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обучение всех сотрудников;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00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нормативная документация 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  <a:p>
                      <a:pPr marL="4572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для перехода;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00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выпуск подписи типа УНЭП, использование: ПЭП «Госуслуги», «Госключ», УКЭП;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00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обновления и техподдержка по SLA;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00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персональный менеджер сопровождения, погруженный </a:t>
                      </a:r>
                      <a:br>
                        <a:rPr sz="1100"/>
                      </a:b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в ваш проект.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t">
                      <a:noAutofit/>
                    </a:bodyPr>
                    <a:p>
                      <a:pPr marL="457200" indent="-330120">
                        <a:lnSpc>
                          <a:spcPct val="100000"/>
                        </a:lnSpc>
                        <a:buClr>
                          <a:srgbClr val="5497e8"/>
                        </a:buClr>
                        <a:buFont typeface="Montserrat Medium"/>
                        <a:buChar char="●"/>
                      </a:pPr>
                      <a:r>
                        <a:rPr b="0" lang="ru" sz="1100" spc="-1" strike="noStrike">
                          <a:solidFill>
                            <a:schemeClr val="dk1"/>
                          </a:solidFill>
                          <a:latin typeface="Montserrat Medium"/>
                          <a:ea typeface="Montserrat Medium"/>
                        </a:rPr>
                        <a:t>ежемесячные обновления платформы;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91080" rIns="91080" anchor="t">
                      <a:noAutofit/>
                    </a:bodyPr>
                    <a:p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080" marR="9108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9" name="Google Shape;83;p15"/>
          <p:cNvSpPr/>
          <p:nvPr/>
        </p:nvSpPr>
        <p:spPr>
          <a:xfrm>
            <a:off x="360000" y="5505840"/>
            <a:ext cx="6839280" cy="154692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2700" spc="-1" strike="noStrike">
                <a:solidFill>
                  <a:srgbClr val="ffffff"/>
                </a:solidFill>
                <a:latin typeface="Montserrat Medium"/>
                <a:ea typeface="Montserrat Medium"/>
              </a:rPr>
              <a:t>Стоимость HRlink на 12 месяцев </a:t>
            </a:r>
            <a:endParaRPr b="0" lang="ru-RU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2700" spc="-1" strike="noStrike">
                <a:solidFill>
                  <a:srgbClr val="ffffff"/>
                </a:solidFill>
                <a:latin typeface="Montserrat Medium"/>
                <a:ea typeface="Montserrat Medium"/>
              </a:rPr>
              <a:t>для вас составит</a:t>
            </a:r>
            <a:endParaRPr b="0" lang="ru-RU" sz="27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2900" spc="-1" strike="noStrike">
                <a:solidFill>
                  <a:srgbClr val="ffffff"/>
                </a:solidFill>
                <a:latin typeface="Montserrat SemiBold"/>
                <a:ea typeface="Montserrat SemiBold"/>
              </a:rPr>
              <a:t>145 000 ₽</a:t>
            </a:r>
            <a:endParaRPr b="0" lang="ru-RU" sz="29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50" name="Google Shape;84;p15"/>
          <p:cNvGraphicFramePr/>
          <p:nvPr/>
        </p:nvGraphicFramePr>
        <p:xfrm>
          <a:off x="360000" y="7175160"/>
          <a:ext cx="6839640" cy="2744280"/>
        </p:xfrm>
        <a:graphic>
          <a:graphicData uri="http://schemas.openxmlformats.org/drawingml/2006/table">
            <a:tbl>
              <a:tblPr/>
              <a:tblGrid>
                <a:gridCol w="1368000"/>
                <a:gridCol w="1368000"/>
                <a:gridCol w="1368000"/>
                <a:gridCol w="1368000"/>
                <a:gridCol w="1368000"/>
              </a:tblGrid>
              <a:tr h="380880"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1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Тип лицензии</a:t>
                      </a:r>
                      <a:endParaRPr b="0" lang="ru-RU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solidFill>
                      <a:srgbClr val="68a3eb"/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1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Стоимость</a:t>
                      </a:r>
                      <a:endParaRPr b="0" lang="ru-RU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solidFill>
                      <a:srgbClr val="68a3eb"/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1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Количество лицензий</a:t>
                      </a:r>
                      <a:endParaRPr b="0" lang="ru-RU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solidFill>
                      <a:srgbClr val="68a3eb"/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1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Срок</a:t>
                      </a:r>
                      <a:endParaRPr b="0" lang="ru-RU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solidFill>
                      <a:srgbClr val="68a3eb"/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ru" sz="1100" spc="-1" strike="noStrike">
                          <a:solidFill>
                            <a:srgbClr val="ffffff"/>
                          </a:solidFill>
                          <a:latin typeface="Montserrat"/>
                          <a:ea typeface="Montserrat"/>
                        </a:rPr>
                        <a:t>Сумма</a:t>
                      </a:r>
                      <a:endParaRPr b="0" lang="ru-RU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solidFill>
                      <a:srgbClr val="68a3eb"/>
                    </a:solidFill>
                  </a:tcPr>
                </a:tc>
              </a:tr>
              <a:tr h="380880">
                <a:tc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Базовая лицензия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15 000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 шт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12 месяцев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15 000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Лицензия on-premise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600 000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 шт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12 месяцев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600 000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Лицензия кадровика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15 000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2 шт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12 месяцев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30 000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Лицензия сотрудника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100 шт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12 месяцев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100 000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</a:tr>
              <a:tr h="380880">
                <a:tc gridSpan="4"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Итоговая сумма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ru-RU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ru" sz="1100" spc="-1" strike="noStrike">
                          <a:solidFill>
                            <a:srgbClr val="2c2d2e"/>
                          </a:solidFill>
                          <a:latin typeface="Montserrat Medium"/>
                          <a:ea typeface="Montserrat Medium"/>
                        </a:rPr>
                        <a:t>145 000 ₽</a:t>
                      </a:r>
                      <a:endParaRPr b="0" lang="ru-RU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9360">
                      <a:solidFill>
                        <a:srgbClr val="5497e8"/>
                      </a:solidFill>
                      <a:prstDash val="solid"/>
                    </a:lnL>
                    <a:lnR w="9360">
                      <a:solidFill>
                        <a:srgbClr val="5497e8"/>
                      </a:solidFill>
                      <a:prstDash val="solid"/>
                    </a:lnR>
                    <a:lnT w="9360">
                      <a:solidFill>
                        <a:srgbClr val="5497e8"/>
                      </a:solidFill>
                      <a:prstDash val="solid"/>
                    </a:lnT>
                    <a:lnB w="9360">
                      <a:solidFill>
                        <a:srgbClr val="5497e8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89;p16" descr=""/>
          <p:cNvPicPr/>
          <p:nvPr/>
        </p:nvPicPr>
        <p:blipFill>
          <a:blip r:embed="rId1"/>
          <a:stretch/>
        </p:blipFill>
        <p:spPr>
          <a:xfrm>
            <a:off x="-129240" y="3505320"/>
            <a:ext cx="7826400" cy="4134600"/>
          </a:xfrm>
          <a:prstGeom prst="rect">
            <a:avLst/>
          </a:prstGeom>
          <a:ln w="0">
            <a:noFill/>
          </a:ln>
        </p:spPr>
      </p:pic>
      <p:sp>
        <p:nvSpPr>
          <p:cNvPr id="52" name="Google Shape;90;p16"/>
          <p:cNvSpPr/>
          <p:nvPr/>
        </p:nvSpPr>
        <p:spPr>
          <a:xfrm>
            <a:off x="646200" y="5257080"/>
            <a:ext cx="6275880" cy="690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>
              <a:lnSpc>
                <a:spcPct val="115000"/>
              </a:lnSpc>
              <a:tabLst>
                <a:tab algn="l" pos="0"/>
              </a:tabLst>
            </a:pPr>
            <a:r>
              <a:rPr b="0" lang="ru" sz="2900" spc="-1" strike="noStrike">
                <a:solidFill>
                  <a:srgbClr val="2c2d2e"/>
                </a:solidFill>
                <a:latin typeface="Montserrat SemiBold"/>
                <a:ea typeface="Montserrat SemiBold"/>
              </a:rPr>
              <a:t>7 причин доверять </a:t>
            </a:r>
            <a:r>
              <a:rPr b="0" lang="ru" sz="2900" spc="-1" strike="noStrike">
                <a:solidFill>
                  <a:srgbClr val="1365dd"/>
                </a:solidFill>
                <a:latin typeface="Montserrat SemiBold"/>
                <a:ea typeface="Montserrat SemiBold"/>
              </a:rPr>
              <a:t>HRlink</a:t>
            </a:r>
            <a:endParaRPr b="0" lang="ru-RU" sz="2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3" name="Google Shape;91;p16" descr=""/>
          <p:cNvPicPr/>
          <p:nvPr/>
        </p:nvPicPr>
        <p:blipFill>
          <a:blip r:embed="rId2"/>
          <a:stretch/>
        </p:blipFill>
        <p:spPr>
          <a:xfrm>
            <a:off x="366480" y="7758000"/>
            <a:ext cx="283680" cy="283680"/>
          </a:xfrm>
          <a:prstGeom prst="rect">
            <a:avLst/>
          </a:prstGeom>
          <a:ln w="0">
            <a:noFill/>
          </a:ln>
        </p:spPr>
      </p:pic>
      <p:sp>
        <p:nvSpPr>
          <p:cNvPr id="54" name="Google Shape;92;p16"/>
          <p:cNvSpPr/>
          <p:nvPr/>
        </p:nvSpPr>
        <p:spPr>
          <a:xfrm>
            <a:off x="710280" y="7672680"/>
            <a:ext cx="2270520" cy="45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hh.ru — стратегический партнер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Google Shape;93;p16" descr=""/>
          <p:cNvPicPr/>
          <p:nvPr/>
        </p:nvPicPr>
        <p:blipFill>
          <a:blip r:embed="rId3"/>
          <a:stretch/>
        </p:blipFill>
        <p:spPr>
          <a:xfrm>
            <a:off x="4066200" y="7758000"/>
            <a:ext cx="283680" cy="283680"/>
          </a:xfrm>
          <a:prstGeom prst="rect">
            <a:avLst/>
          </a:prstGeom>
          <a:ln w="0">
            <a:noFill/>
          </a:ln>
        </p:spPr>
      </p:pic>
      <p:sp>
        <p:nvSpPr>
          <p:cNvPr id="56" name="Google Shape;94;p16"/>
          <p:cNvSpPr/>
          <p:nvPr/>
        </p:nvSpPr>
        <p:spPr>
          <a:xfrm>
            <a:off x="4410000" y="7710840"/>
            <a:ext cx="2643480" cy="36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дважды КЭДО №1 по версии РБК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7" name="Google Shape;95;p16" descr=""/>
          <p:cNvPicPr/>
          <p:nvPr/>
        </p:nvPicPr>
        <p:blipFill>
          <a:blip r:embed="rId4"/>
          <a:stretch/>
        </p:blipFill>
        <p:spPr>
          <a:xfrm>
            <a:off x="373320" y="8329320"/>
            <a:ext cx="283680" cy="283680"/>
          </a:xfrm>
          <a:prstGeom prst="rect">
            <a:avLst/>
          </a:prstGeom>
          <a:ln w="0">
            <a:noFill/>
          </a:ln>
        </p:spPr>
      </p:pic>
      <p:sp>
        <p:nvSpPr>
          <p:cNvPr id="58" name="Google Shape;96;p16"/>
          <p:cNvSpPr/>
          <p:nvPr/>
        </p:nvSpPr>
        <p:spPr>
          <a:xfrm>
            <a:off x="717120" y="8244000"/>
            <a:ext cx="273816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98% пользователей в восторге </a:t>
            </a:r>
            <a:br>
              <a:rPr sz="1100"/>
            </a:b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от нашего подхода к внедрению </a:t>
            </a:r>
            <a:br>
              <a:rPr sz="1100"/>
            </a:b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и сопровождению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" name="Google Shape;97;p16" descr=""/>
          <p:cNvPicPr/>
          <p:nvPr/>
        </p:nvPicPr>
        <p:blipFill>
          <a:blip r:embed="rId5"/>
          <a:stretch/>
        </p:blipFill>
        <p:spPr>
          <a:xfrm>
            <a:off x="4073040" y="8481960"/>
            <a:ext cx="283680" cy="283680"/>
          </a:xfrm>
          <a:prstGeom prst="rect">
            <a:avLst/>
          </a:prstGeom>
          <a:ln w="0">
            <a:noFill/>
          </a:ln>
        </p:spPr>
      </p:pic>
      <p:sp>
        <p:nvSpPr>
          <p:cNvPr id="60" name="Google Shape;98;p16"/>
          <p:cNvSpPr/>
          <p:nvPr/>
        </p:nvSpPr>
        <p:spPr>
          <a:xfrm>
            <a:off x="4416840" y="8396640"/>
            <a:ext cx="264348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HRlink на 100% соответствует требованиям законодательства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" name="Google Shape;99;p16" descr=""/>
          <p:cNvPicPr/>
          <p:nvPr/>
        </p:nvPicPr>
        <p:blipFill>
          <a:blip r:embed="rId6"/>
          <a:stretch/>
        </p:blipFill>
        <p:spPr>
          <a:xfrm>
            <a:off x="366480" y="9063360"/>
            <a:ext cx="283680" cy="283680"/>
          </a:xfrm>
          <a:prstGeom prst="rect">
            <a:avLst/>
          </a:prstGeom>
          <a:ln w="0">
            <a:noFill/>
          </a:ln>
        </p:spPr>
      </p:pic>
      <p:sp>
        <p:nvSpPr>
          <p:cNvPr id="62" name="Google Shape;100;p16"/>
          <p:cNvSpPr/>
          <p:nvPr/>
        </p:nvSpPr>
        <p:spPr>
          <a:xfrm>
            <a:off x="710280" y="8978040"/>
            <a:ext cx="308736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более 6 400 клиентов 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и 1 500 000 активных пользователей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3" name="Google Shape;101;p16" descr=""/>
          <p:cNvPicPr/>
          <p:nvPr/>
        </p:nvPicPr>
        <p:blipFill>
          <a:blip r:embed="rId7"/>
          <a:stretch/>
        </p:blipFill>
        <p:spPr>
          <a:xfrm>
            <a:off x="4066200" y="9291960"/>
            <a:ext cx="283680" cy="283680"/>
          </a:xfrm>
          <a:prstGeom prst="rect">
            <a:avLst/>
          </a:prstGeom>
          <a:ln w="0">
            <a:noFill/>
          </a:ln>
        </p:spPr>
      </p:pic>
      <p:sp>
        <p:nvSpPr>
          <p:cNvPr id="64" name="Google Shape;102;p16"/>
          <p:cNvSpPr/>
          <p:nvPr/>
        </p:nvSpPr>
        <p:spPr>
          <a:xfrm>
            <a:off x="4410000" y="9206640"/>
            <a:ext cx="2643480" cy="51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каждый 20-й россиянин пользуется КЭДО HRlink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" name="Google Shape;103;p16" descr=""/>
          <p:cNvPicPr/>
          <p:nvPr/>
        </p:nvPicPr>
        <p:blipFill>
          <a:blip r:embed="rId8"/>
          <a:stretch/>
        </p:blipFill>
        <p:spPr>
          <a:xfrm>
            <a:off x="366480" y="9640440"/>
            <a:ext cx="283680" cy="283680"/>
          </a:xfrm>
          <a:prstGeom prst="rect">
            <a:avLst/>
          </a:prstGeom>
          <a:ln w="0">
            <a:noFill/>
          </a:ln>
        </p:spPr>
      </p:pic>
      <p:sp>
        <p:nvSpPr>
          <p:cNvPr id="66" name="Google Shape;104;p16"/>
          <p:cNvSpPr/>
          <p:nvPr/>
        </p:nvSpPr>
        <p:spPr>
          <a:xfrm>
            <a:off x="710280" y="9555120"/>
            <a:ext cx="3087360" cy="67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каждую минуту в HRlink подписывают до 300 документов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Google Shape;105;p16"/>
          <p:cNvSpPr/>
          <p:nvPr/>
        </p:nvSpPr>
        <p:spPr>
          <a:xfrm>
            <a:off x="360000" y="329760"/>
            <a:ext cx="6839280" cy="13521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2900" spc="-1" strike="noStrike">
                <a:solidFill>
                  <a:srgbClr val="ffffff"/>
                </a:solidFill>
                <a:latin typeface="Montserrat SemiBold"/>
                <a:ea typeface="Montserrat SemiBold"/>
              </a:rPr>
              <a:t>Что важно знать</a:t>
            </a:r>
            <a:endParaRPr b="0" lang="ru-RU" sz="2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8" name="Google Shape;106;p16" descr=""/>
          <p:cNvPicPr/>
          <p:nvPr/>
        </p:nvPicPr>
        <p:blipFill>
          <a:blip r:embed="rId9"/>
          <a:stretch/>
        </p:blipFill>
        <p:spPr>
          <a:xfrm>
            <a:off x="1057320" y="2004840"/>
            <a:ext cx="613080" cy="613080"/>
          </a:xfrm>
          <a:prstGeom prst="rect">
            <a:avLst/>
          </a:prstGeom>
          <a:ln w="0">
            <a:noFill/>
          </a:ln>
        </p:spPr>
      </p:pic>
      <p:pic>
        <p:nvPicPr>
          <p:cNvPr id="69" name="Google Shape;107;p16" descr=""/>
          <p:cNvPicPr/>
          <p:nvPr/>
        </p:nvPicPr>
        <p:blipFill>
          <a:blip r:embed="rId10"/>
          <a:stretch/>
        </p:blipFill>
        <p:spPr>
          <a:xfrm>
            <a:off x="5753160" y="2004840"/>
            <a:ext cx="613080" cy="613080"/>
          </a:xfrm>
          <a:prstGeom prst="rect">
            <a:avLst/>
          </a:prstGeom>
          <a:ln w="0">
            <a:noFill/>
          </a:ln>
        </p:spPr>
      </p:pic>
      <p:sp>
        <p:nvSpPr>
          <p:cNvPr id="70" name="Google Shape;108;p16"/>
          <p:cNvSpPr/>
          <p:nvPr/>
        </p:nvSpPr>
        <p:spPr>
          <a:xfrm>
            <a:off x="228240" y="2675160"/>
            <a:ext cx="2270520" cy="61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Большую часть задач </a:t>
            </a:r>
            <a:br>
              <a:rPr sz="1100"/>
            </a:b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по внедрению берет </a:t>
            </a:r>
            <a:br>
              <a:rPr sz="1100"/>
            </a:br>
            <a:r>
              <a:rPr b="0" lang="ru" sz="1100" spc="-1" strike="noStrike">
                <a:solidFill>
                  <a:srgbClr val="2c2d2e"/>
                </a:solidFill>
                <a:latin typeface="Montserrat Medium"/>
                <a:ea typeface="Montserrat Medium"/>
              </a:rPr>
              <a:t>на себя наша команда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Google Shape;109;p16"/>
          <p:cNvSpPr/>
          <p:nvPr/>
        </p:nvSpPr>
        <p:spPr>
          <a:xfrm>
            <a:off x="4830480" y="2678040"/>
            <a:ext cx="2458440" cy="79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Выделим персонального менеджера, погруженного </a:t>
            </a:r>
            <a:br>
              <a:rPr sz="1100"/>
            </a:br>
            <a:r>
              <a:rPr b="0" lang="ru" sz="1100" spc="-1" strike="noStrike">
                <a:solidFill>
                  <a:srgbClr val="141416"/>
                </a:solidFill>
                <a:latin typeface="Montserrat Medium"/>
                <a:ea typeface="Montserrat Medium"/>
              </a:rPr>
              <a:t>в ваш проект</a:t>
            </a: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ru-RU" sz="1100" spc="-1" strike="noStrike">
              <a:solidFill>
                <a:srgbClr val="000000"/>
              </a:solidFill>
              <a:latin typeface="Arial"/>
            </a:endParaRPr>
          </a:p>
        </p:txBody>
      </p:sp>
      <p:grpSp>
        <p:nvGrpSpPr>
          <p:cNvPr id="72" name="Google Shape;110;p16"/>
          <p:cNvGrpSpPr/>
          <p:nvPr/>
        </p:nvGrpSpPr>
        <p:grpSpPr>
          <a:xfrm>
            <a:off x="2695320" y="2006280"/>
            <a:ext cx="2168640" cy="1465920"/>
            <a:chOff x="2695320" y="2006280"/>
            <a:chExt cx="2168640" cy="1465920"/>
          </a:xfrm>
        </p:grpSpPr>
        <p:pic>
          <p:nvPicPr>
            <p:cNvPr id="73" name="Google Shape;111;p16" descr=""/>
            <p:cNvPicPr/>
            <p:nvPr/>
          </p:nvPicPr>
          <p:blipFill>
            <a:blip r:embed="rId11"/>
            <a:stretch/>
          </p:blipFill>
          <p:spPr>
            <a:xfrm>
              <a:off x="3473280" y="2006280"/>
              <a:ext cx="613080" cy="6130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74" name="Google Shape;112;p16"/>
            <p:cNvSpPr/>
            <p:nvPr/>
          </p:nvSpPr>
          <p:spPr>
            <a:xfrm>
              <a:off x="2695320" y="2678040"/>
              <a:ext cx="2168640" cy="794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t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b="0" lang="ru" sz="1100" spc="-1" strike="noStrike">
                  <a:solidFill>
                    <a:srgbClr val="2c2d2e"/>
                  </a:solidFill>
                  <a:latin typeface="Montserrat Medium"/>
                  <a:ea typeface="Montserrat Medium"/>
                </a:rPr>
                <a:t>Мы подготовим и обучим  ваших сотрудников</a:t>
              </a:r>
              <a:endParaRPr b="0" lang="ru-RU" sz="1100" spc="-1" strike="noStrike">
                <a:solidFill>
                  <a:srgbClr val="000000"/>
                </a:solidFill>
                <a:latin typeface="Arial"/>
              </a:endParaRPr>
            </a:p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100" spc="-1" strike="noStrike">
                <a:solidFill>
                  <a:srgbClr val="000000"/>
                </a:solidFill>
                <a:latin typeface="Arial"/>
              </a:endParaRPr>
            </a:p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endParaRPr b="0" lang="ru-RU" sz="1100" spc="-1" strike="noStrike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117;p17"/>
          <p:cNvSpPr/>
          <p:nvPr/>
        </p:nvSpPr>
        <p:spPr>
          <a:xfrm>
            <a:off x="360000" y="329760"/>
            <a:ext cx="6839280" cy="1352160"/>
          </a:xfrm>
          <a:prstGeom prst="roundRect">
            <a:avLst>
              <a:gd name="adj" fmla="val 16667"/>
            </a:avLst>
          </a:prstGeom>
          <a:gradFill rotWithShape="0">
            <a:gsLst>
              <a:gs pos="0">
                <a:srgbClr val="a7c9f3"/>
              </a:gs>
              <a:gs pos="100000">
                <a:srgbClr val="5497e8"/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ru" sz="2900" spc="-1" strike="noStrike">
                <a:solidFill>
                  <a:srgbClr val="ffffff"/>
                </a:solidFill>
                <a:latin typeface="Montserrat SemiBold"/>
                <a:ea typeface="Montserrat SemiBold"/>
              </a:rPr>
              <a:t>Уже с нами</a:t>
            </a:r>
            <a:endParaRPr b="0" lang="ru-RU" sz="2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" name="Google Shape;118;p17" descr=""/>
          <p:cNvPicPr/>
          <p:nvPr/>
        </p:nvPicPr>
        <p:blipFill>
          <a:blip r:embed="rId1"/>
          <a:srcRect l="0" t="836" r="0" b="-4219"/>
          <a:stretch/>
        </p:blipFill>
        <p:spPr>
          <a:xfrm>
            <a:off x="360000" y="2081880"/>
            <a:ext cx="6839280" cy="2106000"/>
          </a:xfrm>
          <a:prstGeom prst="rect">
            <a:avLst/>
          </a:prstGeom>
          <a:ln w="0">
            <a:noFill/>
          </a:ln>
        </p:spPr>
      </p:pic>
      <p:pic>
        <p:nvPicPr>
          <p:cNvPr id="77" name="Google Shape;119;p17" descr=""/>
          <p:cNvPicPr/>
          <p:nvPr/>
        </p:nvPicPr>
        <p:blipFill>
          <a:blip r:embed="rId2"/>
          <a:srcRect l="0" t="28" r="0" b="28"/>
          <a:stretch/>
        </p:blipFill>
        <p:spPr>
          <a:xfrm>
            <a:off x="1081080" y="4776120"/>
            <a:ext cx="2494800" cy="3142440"/>
          </a:xfrm>
          <a:prstGeom prst="rect">
            <a:avLst/>
          </a:prstGeom>
          <a:ln w="0">
            <a:noFill/>
          </a:ln>
        </p:spPr>
      </p:pic>
      <p:pic>
        <p:nvPicPr>
          <p:cNvPr id="78" name="Google Shape;120;p17" descr=""/>
          <p:cNvPicPr/>
          <p:nvPr/>
        </p:nvPicPr>
        <p:blipFill>
          <a:blip r:embed="rId3"/>
          <a:stretch/>
        </p:blipFill>
        <p:spPr>
          <a:xfrm>
            <a:off x="3984480" y="4770000"/>
            <a:ext cx="2494800" cy="3152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dcterms:modified xsi:type="dcterms:W3CDTF">2025-09-30T09:48:18Z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