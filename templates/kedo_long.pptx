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7559675" cy="10439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B8A61F-DB23-4178-A5D1-D765395A690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6211D1-35DD-4062-BBC8-A9CDC65AD4C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659DE-E718-4C8D-9ED6-E66778C4766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2C624D-337A-4B90-BC9F-23B082D92D5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DE8703-A2AF-44D9-9478-F03E24FE6F7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386424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66F7A-208B-4B42-B6AC-EECABED6727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D57B839-55A0-412B-A5D3-35E252DEB2D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F793BD-FF7C-42C7-B863-B17FC2A14FD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AC7473-1468-4CF0-94DA-6E82BC5C788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0E992ED-A52D-47E2-8301-D4AB152085E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A7C039-9F78-4E4D-A633-C3716AA9641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ru-RU" sz="5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2C9693-136D-4D88-9C33-E323CE63E09C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57760" y="2245320"/>
            <a:ext cx="7044120" cy="39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ru-RU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ru-RU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57760" y="6398280"/>
            <a:ext cx="7044120" cy="26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DA3FE-5E25-457B-88B3-BB899B82F3E2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67F6C-D1BB-4B01-ADA4-54282557818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57760" y="4365720"/>
            <a:ext cx="7044120" cy="170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36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290C1-DD06-4FF4-887E-4D3DF3EF4BAB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704412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64DB7F-6C67-4ED2-B1AC-4F829D325FF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399528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A77680-E727-440A-BA67-04118EFE6D7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D6B5F-86C2-4DA6-9F41-D12230A28B7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57760" y="1127880"/>
            <a:ext cx="2321280" cy="15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3713"/>
          </a:bodyPr>
          <a:p>
            <a:pPr indent="0"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57760" y="2820600"/>
            <a:ext cx="2321280" cy="645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205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902251-3F9C-4E6A-92AD-5513D479B2A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05360" y="913680"/>
            <a:ext cx="5264280" cy="830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4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32C628-830C-4769-9612-BF38514B8E78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3780000" y="-360"/>
            <a:ext cx="3779640" cy="1043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19600" y="2503080"/>
            <a:ext cx="3344040" cy="30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7361"/>
          </a:bodyPr>
          <a:p>
            <a:pPr indent="0">
              <a:buNone/>
            </a:pPr>
            <a:r>
              <a:rPr b="0" lang="ru-RU" sz="4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083840" y="1469520"/>
            <a:ext cx="3171960" cy="74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368A79-244A-41D2-9994-486506B2CB9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257760" y="8587080"/>
            <a:ext cx="495936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64BA7A-6BF5-485B-8A06-244FD2292519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/>
          <p:cNvSpPr/>
          <p:nvPr/>
        </p:nvSpPr>
        <p:spPr>
          <a:xfrm>
            <a:off x="360000" y="329760"/>
            <a:ext cx="6839640" cy="2493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Коммерческое предложение 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HRlink для компании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Название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5;p13"/>
          <p:cNvSpPr/>
          <p:nvPr/>
        </p:nvSpPr>
        <p:spPr>
          <a:xfrm>
            <a:off x="284760" y="3332520"/>
            <a:ext cx="6839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12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— это платформа №1</a:t>
            </a:r>
            <a:r>
              <a:rPr b="0" lang="ru" sz="12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 для автоматизации кадрового документооборота  по версии РБК в 2025 году. Мы помогаем подписывать кадровые документы онлайн за 1 минуту.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56;p13"/>
          <p:cNvSpPr/>
          <p:nvPr/>
        </p:nvSpPr>
        <p:spPr>
          <a:xfrm>
            <a:off x="264600" y="4442400"/>
            <a:ext cx="6741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дает вам очевидные преимущества: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57;p13" descr=""/>
          <p:cNvPicPr/>
          <p:nvPr/>
        </p:nvPicPr>
        <p:blipFill>
          <a:blip r:embed="rId1"/>
          <a:stretch/>
        </p:blipFill>
        <p:spPr>
          <a:xfrm>
            <a:off x="360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58;p13" descr=""/>
          <p:cNvPicPr/>
          <p:nvPr/>
        </p:nvPicPr>
        <p:blipFill>
          <a:blip r:embed="rId2"/>
          <a:stretch/>
        </p:blipFill>
        <p:spPr>
          <a:xfrm>
            <a:off x="360000" y="579672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59;p13" descr=""/>
          <p:cNvPicPr/>
          <p:nvPr/>
        </p:nvPicPr>
        <p:blipFill>
          <a:blip r:embed="rId3"/>
          <a:stretch/>
        </p:blipFill>
        <p:spPr>
          <a:xfrm>
            <a:off x="3825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60;p13" descr=""/>
          <p:cNvPicPr/>
          <p:nvPr/>
        </p:nvPicPr>
        <p:blipFill>
          <a:blip r:embed="rId4"/>
          <a:stretch/>
        </p:blipFill>
        <p:spPr>
          <a:xfrm>
            <a:off x="3825000" y="583812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1;p13"/>
          <p:cNvSpPr/>
          <p:nvPr/>
        </p:nvSpPr>
        <p:spPr>
          <a:xfrm>
            <a:off x="1111320" y="501516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подписание 75% документов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в первый день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2;p13"/>
          <p:cNvSpPr/>
          <p:nvPr/>
        </p:nvSpPr>
        <p:spPr>
          <a:xfrm>
            <a:off x="1111320" y="579672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риск штрафов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 связи с утерей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документов — 0%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3;p13"/>
          <p:cNvSpPr/>
          <p:nvPr/>
        </p:nvSpPr>
        <p:spPr>
          <a:xfrm>
            <a:off x="4597560" y="5017320"/>
            <a:ext cx="2016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экономия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на документообороте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до 10 раз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64;p13"/>
          <p:cNvSpPr/>
          <p:nvPr/>
        </p:nvSpPr>
        <p:spPr>
          <a:xfrm>
            <a:off x="4597560" y="5796720"/>
            <a:ext cx="233424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прозрачные процессы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КДП с аналитикой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по документам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65;p13"/>
          <p:cNvSpPr/>
          <p:nvPr/>
        </p:nvSpPr>
        <p:spPr>
          <a:xfrm>
            <a:off x="317520" y="6846840"/>
            <a:ext cx="6741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Более 5 лет создаем решения, которые формируют рынок КЭДО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66;p13" descr=""/>
          <p:cNvPicPr/>
          <p:nvPr/>
        </p:nvPicPr>
        <p:blipFill>
          <a:blip r:embed="rId5"/>
          <a:stretch/>
        </p:blipFill>
        <p:spPr>
          <a:xfrm>
            <a:off x="360000" y="7640640"/>
            <a:ext cx="6797160" cy="162936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67;p13" descr=""/>
          <p:cNvPicPr/>
          <p:nvPr/>
        </p:nvPicPr>
        <p:blipFill>
          <a:blip r:embed="rId6"/>
          <a:stretch/>
        </p:blipFill>
        <p:spPr>
          <a:xfrm rot="886200">
            <a:off x="5356800" y="912240"/>
            <a:ext cx="2314080" cy="231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72;p14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В сервисе уже есть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" name="Google Shape;73;p14"/>
          <p:cNvGraphicFramePr/>
          <p:nvPr/>
        </p:nvGraphicFramePr>
        <p:xfrm>
          <a:off x="203040" y="1963080"/>
          <a:ext cx="6905880" cy="477972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облачное размещение и хранение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наших серверах или on-premise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ваших собственных серверах;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бесшовная загрузка документов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данных о сотрудниках;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мобильное приложение,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веб- и мобильная версии;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виды электронных подписей;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модули: графика отпусков, ЛНА, выпуска МЧД, отправки расчетных листков;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массовая отправка документов;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конструктор гибких маршрутов подписания документов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заявлений (безлимит);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массовое подписание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доступ к корпоративным сервисам компании через SSO — единое окно входа;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бесплатные уведомления (email, Telegram, push-уведомления);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работа со всеми типами персонала: сотрудники в штате, по договору ГПХ, самозанятые, ИП;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аналитика по документам;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категории совместителей;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удобный электронный архив.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" name="Google Shape;74;p14"/>
          <p:cNvSpPr/>
          <p:nvPr/>
        </p:nvSpPr>
        <p:spPr>
          <a:xfrm>
            <a:off x="360000" y="7185600"/>
            <a:ext cx="6839640" cy="2484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75;p14"/>
          <p:cNvSpPr/>
          <p:nvPr/>
        </p:nvSpPr>
        <p:spPr>
          <a:xfrm>
            <a:off x="736920" y="7995960"/>
            <a:ext cx="334908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Подробнее обо всех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возможностях сервиса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76;p14" descr=""/>
          <p:cNvPicPr/>
          <p:nvPr/>
        </p:nvPicPr>
        <p:blipFill>
          <a:blip r:embed="rId1"/>
          <a:stretch/>
        </p:blipFill>
        <p:spPr>
          <a:xfrm>
            <a:off x="4898880" y="7503480"/>
            <a:ext cx="1848960" cy="184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81;p15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Также в стоимость входит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" name="Google Shape;82;p15"/>
          <p:cNvGraphicFramePr/>
          <p:nvPr/>
        </p:nvGraphicFramePr>
        <p:xfrm>
          <a:off x="203040" y="1810800"/>
          <a:ext cx="6905880" cy="326340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интеграция со всеми рабочими сервисами: «1С», «БОСС-Кадровик»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т. д.;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внедрение системы;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консультации выделенного инженера при развертывании;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обучение всех сотрудников;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нормативная документация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для перехода;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выпуск подписи типа УНЭП, использование: ПЭП «Госуслуги», «Госключ»,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обновления и техподдержка по SLA;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персональный менеджер сопровождения, погруженный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 ваш проект.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</a:rPr>
                        <a:t>ежемесячные обновления платформы;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Google Shape;83;p15"/>
          <p:cNvSpPr/>
          <p:nvPr/>
        </p:nvSpPr>
        <p:spPr>
          <a:xfrm>
            <a:off x="360000" y="5505840"/>
            <a:ext cx="6839640" cy="15472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Стоимость HRlink на 12 месяцев 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для вас составит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145 000 ₽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Google Shape;84;p15"/>
          <p:cNvGraphicFramePr/>
          <p:nvPr/>
        </p:nvGraphicFramePr>
        <p:xfrm>
          <a:off x="360000" y="7175160"/>
          <a:ext cx="6839640" cy="3197880"/>
        </p:xfrm>
        <a:graphic>
          <a:graphicData uri="http://schemas.openxmlformats.org/drawingml/2006/table">
            <a:tbl>
              <a:tblPr/>
              <a:tblGrid>
                <a:gridCol w="1368000"/>
                <a:gridCol w="1368000"/>
                <a:gridCol w="1368000"/>
                <a:gridCol w="1368000"/>
                <a:gridCol w="1368000"/>
              </a:tblGrid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Тип лицензии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Стоимость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Количество лицензий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Срок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Сумма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Базовая лицензия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on-premise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кадровика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2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30 000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сотрудника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 gridSpan="4"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Итоговая сумма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145 000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89;p16" descr=""/>
          <p:cNvPicPr/>
          <p:nvPr/>
        </p:nvPicPr>
        <p:blipFill>
          <a:blip r:embed="rId1"/>
          <a:stretch/>
        </p:blipFill>
        <p:spPr>
          <a:xfrm>
            <a:off x="-129240" y="3505320"/>
            <a:ext cx="7826760" cy="413496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90;p16"/>
          <p:cNvSpPr/>
          <p:nvPr/>
        </p:nvSpPr>
        <p:spPr>
          <a:xfrm>
            <a:off x="646200" y="5257080"/>
            <a:ext cx="627624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2c2d2e"/>
                </a:solidFill>
                <a:latin typeface="Montserrat SemiBold"/>
                <a:ea typeface="Montserrat SemiBold"/>
              </a:rPr>
              <a:t>7 причин доверять </a:t>
            </a:r>
            <a:r>
              <a:rPr b="0" lang="ru" sz="2900" spc="-1" strike="noStrike">
                <a:solidFill>
                  <a:srgbClr val="1365dd"/>
                </a:solidFill>
                <a:latin typeface="Montserrat SemiBold"/>
                <a:ea typeface="Montserrat SemiBold"/>
              </a:rPr>
              <a:t>HRlink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91;p16" descr=""/>
          <p:cNvPicPr/>
          <p:nvPr/>
        </p:nvPicPr>
        <p:blipFill>
          <a:blip r:embed="rId2"/>
          <a:stretch/>
        </p:blipFill>
        <p:spPr>
          <a:xfrm>
            <a:off x="36648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92;p16"/>
          <p:cNvSpPr/>
          <p:nvPr/>
        </p:nvSpPr>
        <p:spPr>
          <a:xfrm>
            <a:off x="710280" y="7672680"/>
            <a:ext cx="2270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hh.ru — стратегический партнер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Google Shape;93;p16" descr=""/>
          <p:cNvPicPr/>
          <p:nvPr/>
        </p:nvPicPr>
        <p:blipFill>
          <a:blip r:embed="rId3"/>
          <a:stretch/>
        </p:blipFill>
        <p:spPr>
          <a:xfrm>
            <a:off x="406620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94;p16"/>
          <p:cNvSpPr/>
          <p:nvPr/>
        </p:nvSpPr>
        <p:spPr>
          <a:xfrm>
            <a:off x="4410000" y="7710840"/>
            <a:ext cx="2643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дважды КЭДО №1 по версии РБК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oogle Shape;95;p16" descr=""/>
          <p:cNvPicPr/>
          <p:nvPr/>
        </p:nvPicPr>
        <p:blipFill>
          <a:blip r:embed="rId4"/>
          <a:stretch/>
        </p:blipFill>
        <p:spPr>
          <a:xfrm>
            <a:off x="373320" y="832932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96;p16"/>
          <p:cNvSpPr/>
          <p:nvPr/>
        </p:nvSpPr>
        <p:spPr>
          <a:xfrm>
            <a:off x="717120" y="8244000"/>
            <a:ext cx="27385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98% пользователей в восторге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от нашего подхода к внедрению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и сопровождению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97;p16" descr=""/>
          <p:cNvPicPr/>
          <p:nvPr/>
        </p:nvPicPr>
        <p:blipFill>
          <a:blip r:embed="rId5"/>
          <a:stretch/>
        </p:blipFill>
        <p:spPr>
          <a:xfrm>
            <a:off x="4073040" y="848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98;p16"/>
          <p:cNvSpPr/>
          <p:nvPr/>
        </p:nvSpPr>
        <p:spPr>
          <a:xfrm>
            <a:off x="4416840" y="839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HRlink на 100% соответствует требованиям законодательства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oogle Shape;99;p16" descr=""/>
          <p:cNvPicPr/>
          <p:nvPr/>
        </p:nvPicPr>
        <p:blipFill>
          <a:blip r:embed="rId6"/>
          <a:stretch/>
        </p:blipFill>
        <p:spPr>
          <a:xfrm>
            <a:off x="366480" y="90633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00;p16"/>
          <p:cNvSpPr/>
          <p:nvPr/>
        </p:nvSpPr>
        <p:spPr>
          <a:xfrm>
            <a:off x="710280" y="8978040"/>
            <a:ext cx="308772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более 6 400 клиентов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и 1 500 000 активных пользователей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101;p16" descr=""/>
          <p:cNvPicPr/>
          <p:nvPr/>
        </p:nvPicPr>
        <p:blipFill>
          <a:blip r:embed="rId7"/>
          <a:stretch/>
        </p:blipFill>
        <p:spPr>
          <a:xfrm>
            <a:off x="4066200" y="929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02;p16"/>
          <p:cNvSpPr/>
          <p:nvPr/>
        </p:nvSpPr>
        <p:spPr>
          <a:xfrm>
            <a:off x="4410000" y="920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каждый 20-й россиянин пользуется КЭДО HRlink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Google Shape;103;p16" descr=""/>
          <p:cNvPicPr/>
          <p:nvPr/>
        </p:nvPicPr>
        <p:blipFill>
          <a:blip r:embed="rId8"/>
          <a:stretch/>
        </p:blipFill>
        <p:spPr>
          <a:xfrm>
            <a:off x="366480" y="964044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04;p16"/>
          <p:cNvSpPr/>
          <p:nvPr/>
        </p:nvSpPr>
        <p:spPr>
          <a:xfrm>
            <a:off x="710280" y="9555120"/>
            <a:ext cx="30877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каждую минуту в HRlink подписывают до 300 документов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05;p16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Что важно знать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106;p16" descr=""/>
          <p:cNvPicPr/>
          <p:nvPr/>
        </p:nvPicPr>
        <p:blipFill>
          <a:blip r:embed="rId9"/>
          <a:stretch/>
        </p:blipFill>
        <p:spPr>
          <a:xfrm>
            <a:off x="1057320" y="20048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07;p16" descr=""/>
          <p:cNvPicPr/>
          <p:nvPr/>
        </p:nvPicPr>
        <p:blipFill>
          <a:blip r:embed="rId10"/>
          <a:stretch/>
        </p:blipFill>
        <p:spPr>
          <a:xfrm>
            <a:off x="5753160" y="200484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08;p16"/>
          <p:cNvSpPr/>
          <p:nvPr/>
        </p:nvSpPr>
        <p:spPr>
          <a:xfrm>
            <a:off x="228240" y="2675160"/>
            <a:ext cx="2270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Большую часть задач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по внедрению берет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на себя наша команда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09;p16"/>
          <p:cNvSpPr/>
          <p:nvPr/>
        </p:nvSpPr>
        <p:spPr>
          <a:xfrm>
            <a:off x="4830480" y="2678040"/>
            <a:ext cx="24588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Выделим персонального менеджера, погруженного </a:t>
            </a:r>
            <a:br>
              <a:rPr sz="1100"/>
            </a:b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 ваш проект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oogle Shape;110;p16"/>
          <p:cNvGrpSpPr/>
          <p:nvPr/>
        </p:nvGrpSpPr>
        <p:grpSpPr>
          <a:xfrm>
            <a:off x="2695320" y="2006280"/>
            <a:ext cx="2169000" cy="1466280"/>
            <a:chOff x="2695320" y="2006280"/>
            <a:chExt cx="2169000" cy="1466280"/>
          </a:xfrm>
        </p:grpSpPr>
        <p:pic>
          <p:nvPicPr>
            <p:cNvPr id="82" name="Google Shape;111;p16" descr=""/>
            <p:cNvPicPr/>
            <p:nvPr/>
          </p:nvPicPr>
          <p:blipFill>
            <a:blip r:embed="rId11"/>
            <a:stretch/>
          </p:blipFill>
          <p:spPr>
            <a:xfrm>
              <a:off x="3473280" y="2006280"/>
              <a:ext cx="613440" cy="613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Google Shape;112;p16"/>
            <p:cNvSpPr/>
            <p:nvPr/>
          </p:nvSpPr>
          <p:spPr>
            <a:xfrm>
              <a:off x="2695320" y="2678040"/>
              <a:ext cx="2169000" cy="79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2c2d2e"/>
                  </a:solidFill>
                  <a:latin typeface="Montserrat Medium"/>
                  <a:ea typeface="Montserrat Medium"/>
                </a:rPr>
                <a:t>Мы подготовим и обучим  ваших сотрудников</a:t>
              </a: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17;p17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Уже с нами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118;p17" descr=""/>
          <p:cNvPicPr/>
          <p:nvPr/>
        </p:nvPicPr>
        <p:blipFill>
          <a:blip r:embed="rId1"/>
          <a:srcRect l="0" t="836" r="0" b="-4219"/>
          <a:stretch/>
        </p:blipFill>
        <p:spPr>
          <a:xfrm>
            <a:off x="360000" y="2081880"/>
            <a:ext cx="6839640" cy="210636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19;p17" descr=""/>
          <p:cNvPicPr/>
          <p:nvPr/>
        </p:nvPicPr>
        <p:blipFill>
          <a:blip r:embed="rId2"/>
          <a:srcRect l="0" t="28" r="0" b="28"/>
          <a:stretch/>
        </p:blipFill>
        <p:spPr>
          <a:xfrm>
            <a:off x="1081080" y="4776120"/>
            <a:ext cx="2495160" cy="314280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20;p17" descr=""/>
          <p:cNvPicPr/>
          <p:nvPr/>
        </p:nvPicPr>
        <p:blipFill>
          <a:blip r:embed="rId3"/>
          <a:stretch/>
        </p:blipFill>
        <p:spPr>
          <a:xfrm>
            <a:off x="3984480" y="4770000"/>
            <a:ext cx="2495160" cy="315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2025-09-24T15:56:51Z</dcterms:modified>
  <cp:revision>2</cp:revision>
  <dc:subject/>
  <dc:title/>
</cp:coreProperties>
</file>